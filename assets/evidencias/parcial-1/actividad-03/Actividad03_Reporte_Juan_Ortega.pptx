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bc11061eb94d87" /><Relationship Type="http://schemas.openxmlformats.org/officeDocument/2006/relationships/extended-properties" Target="/docProps/app.xml" Id="R49d3ce02bf2e4c56" /><Relationship Type="http://schemas.openxmlformats.org/officeDocument/2006/relationships/officeDocument" Target="/ppt/presentation.xml" Id="Rc66bdc91898348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e8f88a1f894f9e"/>
  </p:sldMasterIdLst>
  <p:notesMasterIdLst>
    <p:notesMasterId xmlns:r="http://schemas.openxmlformats.org/officeDocument/2006/relationships" r:id="Rb273fe8da3554271"/>
  </p:notesMasterIdLst>
  <p:sldIdLst>
    <p:sldId xmlns:r="http://schemas.openxmlformats.org/officeDocument/2006/relationships" id="256" r:id="Rbd45183ebd974248"/>
    <p:sldId xmlns:r="http://schemas.openxmlformats.org/officeDocument/2006/relationships" id="257" r:id="Rda8e31051ac94e44"/>
    <p:sldId xmlns:r="http://schemas.openxmlformats.org/officeDocument/2006/relationships" id="258" r:id="R748840e5ac414037"/>
    <p:sldId xmlns:r="http://schemas.openxmlformats.org/officeDocument/2006/relationships" id="259" r:id="R8223ca01456b4025"/>
    <p:sldId xmlns:r="http://schemas.openxmlformats.org/officeDocument/2006/relationships" id="260" r:id="R801466ee5c074cfe"/>
    <p:sldId xmlns:r="http://schemas.openxmlformats.org/officeDocument/2006/relationships" id="261" r:id="Rbf8ec351f3654085"/>
    <p:sldId xmlns:r="http://schemas.openxmlformats.org/officeDocument/2006/relationships" id="262" r:id="R9ce4c06deedb4106"/>
    <p:sldId xmlns:r="http://schemas.openxmlformats.org/officeDocument/2006/relationships" id="263" r:id="R75e338c903d6487a"/>
    <p:sldId xmlns:r="http://schemas.openxmlformats.org/officeDocument/2006/relationships" id="264" r:id="Re18ab48eaa83471e"/>
    <p:sldId xmlns:r="http://schemas.openxmlformats.org/officeDocument/2006/relationships" id="265" r:id="R16d336d151324be4"/>
    <p:sldId xmlns:r="http://schemas.openxmlformats.org/officeDocument/2006/relationships" id="266" r:id="R2f5b1cba22ae43b0"/>
    <p:sldId xmlns:r="http://schemas.openxmlformats.org/officeDocument/2006/relationships" id="267" r:id="R1fe202d14cab4d96"/>
    <p:sldId xmlns:r="http://schemas.openxmlformats.org/officeDocument/2006/relationships" id="268" r:id="R7e73caa6e0454cb1"/>
    <p:sldId xmlns:r="http://schemas.openxmlformats.org/officeDocument/2006/relationships" id="269" r:id="R83a91be615c047d2"/>
    <p:sldId xmlns:r="http://schemas.openxmlformats.org/officeDocument/2006/relationships" id="270" r:id="R1219c823ecdf47b0"/>
    <p:sldId xmlns:r="http://schemas.openxmlformats.org/officeDocument/2006/relationships" id="271" r:id="R1eb41484787b471f"/>
    <p:sldId xmlns:r="http://schemas.openxmlformats.org/officeDocument/2006/relationships" id="272" r:id="R7588015ca2ad4cea"/>
    <p:sldId xmlns:r="http://schemas.openxmlformats.org/officeDocument/2006/relationships" id="273" r:id="Rc4810ada32df4ba6"/>
    <p:sldId xmlns:r="http://schemas.openxmlformats.org/officeDocument/2006/relationships" id="274" r:id="R35a9720e0565485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90f0b15b534fe7" /><Relationship Type="http://schemas.openxmlformats.org/officeDocument/2006/relationships/slideMaster" Target="/ppt/slideMasters/slideMaster1.xml" Id="R17e8f88a1f894f9e" /><Relationship Type="http://schemas.openxmlformats.org/officeDocument/2006/relationships/notesMaster" Target="/ppt/notesMasters/notesMaster1.xml" Id="Rb273fe8da3554271" /><Relationship Type="http://schemas.openxmlformats.org/officeDocument/2006/relationships/presProps" Target="/ppt/presProps.xml" Id="Rcdbccdc63af04ad7" /><Relationship Type="http://schemas.openxmlformats.org/officeDocument/2006/relationships/tableStyles" Target="/ppt/tableStyles.xml" Id="R8fa38a5aa6054fc8" /><Relationship Type="http://schemas.openxmlformats.org/officeDocument/2006/relationships/slide" Target="/ppt/slides/slide1.xml" Id="Rbd45183ebd974248" /><Relationship Type="http://schemas.openxmlformats.org/officeDocument/2006/relationships/slide" Target="/ppt/slides/slide2.xml" Id="Rda8e31051ac94e44" /><Relationship Type="http://schemas.openxmlformats.org/officeDocument/2006/relationships/slide" Target="/ppt/slides/slide3.xml" Id="R748840e5ac414037" /><Relationship Type="http://schemas.openxmlformats.org/officeDocument/2006/relationships/slide" Target="/ppt/slides/slide4.xml" Id="R8223ca01456b4025" /><Relationship Type="http://schemas.openxmlformats.org/officeDocument/2006/relationships/slide" Target="/ppt/slides/slide5.xml" Id="R801466ee5c074cfe" /><Relationship Type="http://schemas.openxmlformats.org/officeDocument/2006/relationships/slide" Target="/ppt/slides/slide6.xml" Id="Rbf8ec351f3654085" /><Relationship Type="http://schemas.openxmlformats.org/officeDocument/2006/relationships/slide" Target="/ppt/slides/slide7.xml" Id="R9ce4c06deedb4106" /><Relationship Type="http://schemas.openxmlformats.org/officeDocument/2006/relationships/slide" Target="/ppt/slides/slide8.xml" Id="R75e338c903d6487a" /><Relationship Type="http://schemas.openxmlformats.org/officeDocument/2006/relationships/slide" Target="/ppt/slides/slide9.xml" Id="Re18ab48eaa83471e" /><Relationship Type="http://schemas.openxmlformats.org/officeDocument/2006/relationships/slide" Target="/ppt/slides/slide10.xml" Id="R16d336d151324be4" /><Relationship Type="http://schemas.openxmlformats.org/officeDocument/2006/relationships/slide" Target="/ppt/slides/slide11.xml" Id="R2f5b1cba22ae43b0" /><Relationship Type="http://schemas.openxmlformats.org/officeDocument/2006/relationships/slide" Target="/ppt/slides/slide12.xml" Id="R1fe202d14cab4d96" /><Relationship Type="http://schemas.openxmlformats.org/officeDocument/2006/relationships/slide" Target="/ppt/slides/slide13.xml" Id="R7e73caa6e0454cb1" /><Relationship Type="http://schemas.openxmlformats.org/officeDocument/2006/relationships/slide" Target="/ppt/slides/slide14.xml" Id="R83a91be615c047d2" /><Relationship Type="http://schemas.openxmlformats.org/officeDocument/2006/relationships/slide" Target="/ppt/slides/slide15.xml" Id="R1219c823ecdf47b0" /><Relationship Type="http://schemas.openxmlformats.org/officeDocument/2006/relationships/slide" Target="/ppt/slides/slide16.xml" Id="R1eb41484787b471f" /><Relationship Type="http://schemas.openxmlformats.org/officeDocument/2006/relationships/slide" Target="/ppt/slides/slide17.xml" Id="R7588015ca2ad4cea" /><Relationship Type="http://schemas.openxmlformats.org/officeDocument/2006/relationships/slide" Target="/ppt/slides/slide18.xml" Id="Rc4810ada32df4ba6" /><Relationship Type="http://schemas.openxmlformats.org/officeDocument/2006/relationships/slide" Target="/ppt/slides/slide19.xml" Id="R35a9720e056548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a88367f10a44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7319310e234d9b" /><Relationship Type="http://schemas.openxmlformats.org/officeDocument/2006/relationships/notesMaster" Target="/ppt/notesMasters/notesMaster1.xml" Id="R9fc41f8a1db947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30de4c749ae4529" /><Relationship Type="http://schemas.openxmlformats.org/officeDocument/2006/relationships/notesMaster" Target="/ppt/notesMasters/notesMaster1.xml" Id="Rf566795b3cbf4d8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d5322b7c624baa" /><Relationship Type="http://schemas.openxmlformats.org/officeDocument/2006/relationships/notesMaster" Target="/ppt/notesMasters/notesMaster1.xml" Id="R8d85bc0ba10247e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57b879e6af047d4" /><Relationship Type="http://schemas.openxmlformats.org/officeDocument/2006/relationships/notesMaster" Target="/ppt/notesMasters/notesMaster1.xml" Id="R50061c5e62fc4a9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7d7fe24a6de43cd" /><Relationship Type="http://schemas.openxmlformats.org/officeDocument/2006/relationships/notesMaster" Target="/ppt/notesMasters/notesMaster1.xml" Id="R877d736e11e947e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bf9d8a63fcf44d4" /><Relationship Type="http://schemas.openxmlformats.org/officeDocument/2006/relationships/notesMaster" Target="/ppt/notesMasters/notesMaster1.xml" Id="Rbcd21a3512f8488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8c5e9f3d48f4e70" /><Relationship Type="http://schemas.openxmlformats.org/officeDocument/2006/relationships/notesMaster" Target="/ppt/notesMasters/notesMaster1.xml" Id="Rc0301319a81c45f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e630005b2f54da3" /><Relationship Type="http://schemas.openxmlformats.org/officeDocument/2006/relationships/notesMaster" Target="/ppt/notesMasters/notesMaster1.xml" Id="Rf484a5bfe7a34bf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856dd43fc1a423e" /><Relationship Type="http://schemas.openxmlformats.org/officeDocument/2006/relationships/notesMaster" Target="/ppt/notesMasters/notesMaster1.xml" Id="Rc7fa9fe8855a493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5ef3d1bc4514881" /><Relationship Type="http://schemas.openxmlformats.org/officeDocument/2006/relationships/notesMaster" Target="/ppt/notesMasters/notesMaster1.xml" Id="Rdfb99e4e0c6b4b5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22a3c55cece41c3" /><Relationship Type="http://schemas.openxmlformats.org/officeDocument/2006/relationships/notesMaster" Target="/ppt/notesMasters/notesMaster1.xml" Id="R3eed905a6f0c436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ad05887b8d14e8e" /><Relationship Type="http://schemas.openxmlformats.org/officeDocument/2006/relationships/notesMaster" Target="/ppt/notesMasters/notesMaster1.xml" Id="R48c2fc271c17404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e1ec77fa0f64650" /><Relationship Type="http://schemas.openxmlformats.org/officeDocument/2006/relationships/notesMaster" Target="/ppt/notesMasters/notesMaster1.xml" Id="Rf8509cb9bd084c3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edca9c5792e47ff" /><Relationship Type="http://schemas.openxmlformats.org/officeDocument/2006/relationships/notesMaster" Target="/ppt/notesMasters/notesMaster1.xml" Id="R48c400e2e0ed44b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cd43080cefe4df3" /><Relationship Type="http://schemas.openxmlformats.org/officeDocument/2006/relationships/notesMaster" Target="/ppt/notesMasters/notesMaster1.xml" Id="R2c7f9b6b976d416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10c493565ce42a6" /><Relationship Type="http://schemas.openxmlformats.org/officeDocument/2006/relationships/notesMaster" Target="/ppt/notesMasters/notesMaster1.xml" Id="R10e998c182f84c7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e9d0ce58f2546b3" /><Relationship Type="http://schemas.openxmlformats.org/officeDocument/2006/relationships/notesMaster" Target="/ppt/notesMasters/notesMaster1.xml" Id="R8907d866dbcb429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26e2f62182c459d" /><Relationship Type="http://schemas.openxmlformats.org/officeDocument/2006/relationships/notesMaster" Target="/ppt/notesMasters/notesMaster1.xml" Id="R15335a9ff6874a0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5c7d9dbbd5647cb" /><Relationship Type="http://schemas.openxmlformats.org/officeDocument/2006/relationships/notesMaster" Target="/ppt/notesMasters/notesMaster1.xml" Id="Rf0ffdc95a84745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la actividad como una ampliación controlada del código visto en clase.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Consigna, código y capturas proporcionados por el alumno.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Introducir el objetivo de la consigna y separar los requisitos técnicos de los entregables de documentación.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Consigna, código y capturas proporcionados por el alumno.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Comparar el código inicial con los cuatro elementos añadidos para cumplir la consigna.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Consigna, código y capturas proporcionados por el alumno.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el flujo de izquierda a derecha. La red es privada y solo se utilizó en el laboratorio.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Consigna, código y capturas proporcionados por el alumno.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las cuatro librerías, las constantes IP_KALI, PUERTO y ARCHIVO_LOCAL, y las variables de estado. generar_evento crea un folio consecutivo; describir_tecla normaliza caracteres y teclas especiales.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Consigna, código y capturas proporcionados por el alumno.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Destacar el principio de tolerancia a fallos: la telemetría es una copia, mientras que la persistencia local sigue siendo la evidencia principal.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Consigna, código y capturas proporcionados por el alumno.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Recorrer la función en orden. Cada evento queda documentado localmente antes de intentar la transmisión, por lo que una falla de red no elimina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Consigna, código y capturas proporcionados por el alumno.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Señalar que el programa es visible, requiere confirmación manual y no se configura para iniciar automáticamente con el sistema.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Consigna, código y capturas proporcionados por el alumno.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que TCP puede entregar datos fragmentados; por eso el receptor usa un acumulador y procesa cada salto de línea como un registro completo.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Consigna, código y capturas proporcionados por el alumno.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Destacar que la persistencia solicitada se refiere al archivo, no al arranque automático del programa.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Consigna, código y capturas proporcionados por el alumno.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Relacionar cada campo con las preguntas de la consigna: cuándo ocurrió, en qué orden y cuánto tiempo transcurrió.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Consigna, código y capturas proporcionados por el alumno.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Aclarar que el cierre ocurre al liberar Esc y que el proceso permanece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Consigna, código y capturas proporcionados por el alumno.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que el adaptador eth1 pertenece a la red privada y que el ping tuvo cero pérdidas.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Consigna, código y capturas proporcionados por el alumno.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que el receptor se inició primero. La captura de Windows muestra conexión establecida y eventos con estado ENVIADO.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Consigna, código y capturas proporcionados por el alumno.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esta captura para demostrar persistencia y asociación temporal. Los valores permiten reconstruir la secuencia sin depender de la consola.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Consigna, código y capturas proporcionados por el alumno.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Resaltar que el evento 081 corresponde a la liberación de Esc. Esto comprueba el cierre intencional y documentado del listener.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Consigna, código y capturas proporcionados por el alumno.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Los primeros cuatro criterios quedan documentados en esta presentación. El quinto se completa al publicar los archivos y la página HTML en el portafolio.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Consigna, código y capturas proporcionados por el alumno.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Vincular la técnica con sus implicaciones dentro de la ciberseguridad. Recalcar el consentimiento y el alcance limitado.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Consigna, código y capturas proporcionados por el alumno.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Cerrar conectando los resultados técnicos con el entregable final del portafolio.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Consigna, código y capturas proporcionados por el alumno.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7eb1f41862473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624feb11d0476f" /><Relationship Type="http://schemas.openxmlformats.org/officeDocument/2006/relationships/slideLayout" Target="/ppt/slideLayouts/slideLayout1.xml" Id="R24adcf5a44374b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adcf5a44374b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9a70909edd4347" /><Relationship Type="http://schemas.openxmlformats.org/officeDocument/2006/relationships/notesSlide" Target="/ppt/notesSlides/notesSlide1.xml" Id="R161df2a28a734c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a38d9e57a0437f" /><Relationship Type="http://schemas.openxmlformats.org/officeDocument/2006/relationships/notesSlide" Target="/ppt/notesSlides/notesSlide2.xml" Id="R6bff92155b5d4f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f33faca7fb4221" /><Relationship Type="http://schemas.openxmlformats.org/officeDocument/2006/relationships/notesSlide" Target="/ppt/notesSlides/notesSlide3.xml" Id="R241fc0c3c8be49e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041150a874482d" /><Relationship Type="http://schemas.openxmlformats.org/officeDocument/2006/relationships/notesSlide" Target="/ppt/notesSlides/notesSlide4.xml" Id="R2257fb854f9b409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916019b89741fb" /><Relationship Type="http://schemas.openxmlformats.org/officeDocument/2006/relationships/image" Target="/ppt/media/image.png" Id="Rfaa66f67e7264f92" /><Relationship Type="http://schemas.openxmlformats.org/officeDocument/2006/relationships/notesSlide" Target="/ppt/notesSlides/notesSlide5.xml" Id="Rd45739c237cb438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544fdff18242ae" /><Relationship Type="http://schemas.openxmlformats.org/officeDocument/2006/relationships/image" Target="/ppt/media/image2.png" Id="Rad204452693a438a" /><Relationship Type="http://schemas.openxmlformats.org/officeDocument/2006/relationships/notesSlide" Target="/ppt/notesSlides/notesSlide6.xml" Id="Rf5d4c1cdd8f14da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b4d6fb35cd4b6b" /><Relationship Type="http://schemas.openxmlformats.org/officeDocument/2006/relationships/image" Target="/ppt/media/image3.png" Id="R65fa3e0949834d50" /><Relationship Type="http://schemas.openxmlformats.org/officeDocument/2006/relationships/notesSlide" Target="/ppt/notesSlides/notesSlide7.xml" Id="R6fc957996f6c487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449d9d1fd64308" /><Relationship Type="http://schemas.openxmlformats.org/officeDocument/2006/relationships/image" Target="/ppt/media/image4.png" Id="R342aba8be65d457f" /><Relationship Type="http://schemas.openxmlformats.org/officeDocument/2006/relationships/notesSlide" Target="/ppt/notesSlides/notesSlide8.xml" Id="R8902733f0af644c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2aa620793d4969" /><Relationship Type="http://schemas.openxmlformats.org/officeDocument/2006/relationships/notesSlide" Target="/ppt/notesSlides/notesSlide9.xml" Id="R48b3915d2615472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1620115aa54a69" /><Relationship Type="http://schemas.openxmlformats.org/officeDocument/2006/relationships/notesSlide" Target="/ppt/notesSlides/notesSlide10.xml" Id="Rc85bd1a780184d8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ad73f394634bb4" /><Relationship Type="http://schemas.openxmlformats.org/officeDocument/2006/relationships/notesSlide" Target="/ppt/notesSlides/notesSlide11.xml" Id="Rbdb398e198724cd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03763addb94a24" /><Relationship Type="http://schemas.openxmlformats.org/officeDocument/2006/relationships/notesSlide" Target="/ppt/notesSlides/notesSlide12.xml" Id="R15a4d8355a12480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266b5a994641dc" /><Relationship Type="http://schemas.openxmlformats.org/officeDocument/2006/relationships/image" Target="/ppt/media/image5.png" Id="R4f83fbfd0b1e4989" /><Relationship Type="http://schemas.openxmlformats.org/officeDocument/2006/relationships/image" Target="/ppt/media/image6.png" Id="Rbaa6c933d5d442d9" /><Relationship Type="http://schemas.openxmlformats.org/officeDocument/2006/relationships/notesSlide" Target="/ppt/notesSlides/notesSlide13.xml" Id="R79e11dc5c4bf418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d00e9050634ef0" /><Relationship Type="http://schemas.openxmlformats.org/officeDocument/2006/relationships/image" Target="/ppt/media/image7.png" Id="Ra7166928210a4adc" /><Relationship Type="http://schemas.openxmlformats.org/officeDocument/2006/relationships/image" Target="/ppt/media/image8.png" Id="R28eacf6ebc79451d" /><Relationship Type="http://schemas.openxmlformats.org/officeDocument/2006/relationships/notesSlide" Target="/ppt/notesSlides/notesSlide14.xml" Id="Rf12a2a5b75e44b2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9147341f67498d" /><Relationship Type="http://schemas.openxmlformats.org/officeDocument/2006/relationships/image" Target="/ppt/media/image9.png" Id="R124857a6b09f4c89" /><Relationship Type="http://schemas.openxmlformats.org/officeDocument/2006/relationships/notesSlide" Target="/ppt/notesSlides/notesSlide15.xml" Id="R28a5d83e51424ca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3b3fc46ab8407e" /><Relationship Type="http://schemas.openxmlformats.org/officeDocument/2006/relationships/image" Target="/ppt/media/image10.png" Id="R5f9e6ef98332471e" /><Relationship Type="http://schemas.openxmlformats.org/officeDocument/2006/relationships/notesSlide" Target="/ppt/notesSlides/notesSlide16.xml" Id="R3a3bbf79cff24ee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ce5267cc334499" /><Relationship Type="http://schemas.openxmlformats.org/officeDocument/2006/relationships/notesSlide" Target="/ppt/notesSlides/notesSlide17.xml" Id="R55991c01145244e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65499f9aa64760" /><Relationship Type="http://schemas.openxmlformats.org/officeDocument/2006/relationships/notesSlide" Target="/ppt/notesSlides/notesSlide18.xml" Id="Rf58bc605385a41d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10216f12fe4a85" /><Relationship Type="http://schemas.openxmlformats.org/officeDocument/2006/relationships/notesSlide" Target="/ppt/notesSlides/notesSlide19.xml" Id="R0935acb1e2324c6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C13E25-DE95-444A-A375-9519F27FD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D7CE5C-0857-4F13-89D2-366A7425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86D5C1-A00B-489F-97FF-88D63A977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048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ED7FF"/>
                </a:solidFill>
              </a:defRPr>
            </a:pPr>
            <a:r>
              <a:rPr sz="1200" b="1">
                <a:solidFill>
                  <a:srgbClr val="3ED7FF"/>
                </a:solidFill>
              </a:rPr>
              <a:t>CNO IV · SEGURIDAD INFORMÁTICA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2B4220-7AF4-46E8-8BE1-D60D0DAE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81125"/>
            <a:ext cx="7048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4F9FF"/>
                </a:solidFill>
              </a:defRPr>
            </a:pPr>
            <a:r>
              <a:rPr sz="4800" b="1">
                <a:solidFill>
                  <a:srgbClr val="F4F9FF"/>
                </a:solidFill>
              </a:rPr>
              <a:t>NO PRESIONES</a:t>
            </a:r>
          </a:p>
          <a:p xmlns:a="http://schemas.openxmlformats.org/drawingml/2006/main">
            <a:pPr algn="l">
              <a:defRPr sz="4800" b="1">
                <a:solidFill>
                  <a:srgbClr val="F4F9FF"/>
                </a:solidFill>
              </a:defRPr>
            </a:pPr>
            <a:r>
              <a:rPr sz="4800" b="1">
                <a:solidFill>
                  <a:srgbClr val="F4F9FF"/>
                </a:solidFill>
              </a:rPr>
              <a:t>ESC... TODAVÍA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A33AB6-DD9D-4378-845F-1829F8F1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14750"/>
            <a:ext cx="657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9C3D6"/>
                </a:solidFill>
              </a:defRPr>
            </a:pPr>
            <a:r>
              <a:rPr sz="1800" b="0">
                <a:solidFill>
                  <a:srgbClr val="A9C3D6"/>
                </a:solidFill>
              </a:rPr>
              <a:t>Persistencia, asociación temporal y telemetría hacia Kali Linux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EE7C13-478F-4007-80B0-E45D443EF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123950"/>
            <a:ext cx="2724150" cy="304800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102D43"/>
          </a:solidFill>
          <a:ln xmlns:a="http://schemas.openxmlformats.org/drawingml/2006/main" w="9525">
            <a:solidFill>
              <a:srgbClr val="28516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CCBB8E-FFDD-43D3-AC92-48B354963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28750"/>
            <a:ext cx="16002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900" b="0">
                <a:solidFill>
                  <a:srgbClr val="FFC53D"/>
                </a:solidFill>
              </a:defRPr>
            </a:pPr>
            <a:r>
              <a:rPr sz="6900" b="0">
                <a:solidFill>
                  <a:srgbClr val="FFC53D"/>
                </a:solidFill>
              </a:rPr>
              <a:t>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C0D44B-71DB-44D1-8A26-6EDF5882C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00350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ED7FF"/>
                </a:solidFill>
              </a:defRPr>
            </a:pPr>
            <a:r>
              <a:rPr sz="1650" b="1">
                <a:solidFill>
                  <a:srgbClr val="3ED7FF"/>
                </a:solidFill>
              </a:rPr>
              <a:t>PRESS</a:t>
            </a:r>
          </a:p>
          <a:p xmlns:a="http://schemas.openxmlformats.org/drawingml/2006/main">
            <a:pPr algn="ctr">
              <a:defRPr sz="1650" b="1">
                <a:solidFill>
                  <a:srgbClr val="3ED7FF"/>
                </a:solidFill>
              </a:defRPr>
            </a:pPr>
            <a:r>
              <a:rPr sz="1650" b="1">
                <a:solidFill>
                  <a:srgbClr val="3ED7FF"/>
                </a:solidFill>
              </a:rPr>
              <a:t>RELEASE</a:t>
            </a:r>
          </a:p>
          <a:p xmlns:a="http://schemas.openxmlformats.org/drawingml/2006/main">
            <a:pPr algn="ctr">
              <a:defRPr sz="1650" b="1">
                <a:solidFill>
                  <a:srgbClr val="3ED7FF"/>
                </a:solidFill>
              </a:defRPr>
            </a:pPr>
            <a:r>
              <a:rPr sz="1650" b="1">
                <a:solidFill>
                  <a:srgbClr val="3ED7FF"/>
                </a:solidFill>
              </a:rPr>
              <a:t>ESC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79FCFF-CE5F-45F8-87EC-E749E5F0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1495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9FF"/>
                </a:solidFill>
              </a:defRPr>
            </a:pPr>
            <a:r>
              <a:rPr sz="1500" b="1">
                <a:solidFill>
                  <a:srgbClr val="F4F9FF"/>
                </a:solidFill>
              </a:rPr>
              <a:t>Juan Francisco Ortega Jiménez · 184918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212AAE-C91A-45FE-A410-63D8213D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76900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C3D6"/>
                </a:solidFill>
              </a:defRPr>
            </a:pPr>
            <a:r>
              <a:rPr sz="1275" b="0">
                <a:solidFill>
                  <a:srgbClr val="A9C3D6"/>
                </a:solidFill>
              </a:rPr>
              <a:t>Mtro. Servando López Contreras · 23/08/2026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CF625C-2569-4DF7-ABD6-DEBC3B32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1625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F9FF"/>
                </a:solidFill>
              </a:defRPr>
            </a:pPr>
            <a:r>
              <a:rPr sz="1350" b="1">
                <a:solidFill>
                  <a:srgbClr val="F4F9FF"/>
                </a:solidFill>
              </a:rPr>
              <a:t>Universidad Politécnica de San Luis Potosí</a:t>
            </a:r>
          </a:p>
        </p:txBody>
      </p:sp>
    </p:spTree>
    <p:extLst>
      <p:ext uri="{BB962C8B-B14F-4D97-AF65-F5344CB8AC3E}">
        <p14:creationId xmlns:p14="http://schemas.microsoft.com/office/powerpoint/2010/main" val="1496038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2E1703-04BE-4390-B254-0B3B0543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545243-B673-461D-8517-C8F81917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6AA249-3971-47E3-8EAB-C75C110C6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ED7FF"/>
                </a:solidFill>
              </a:defRPr>
            </a:pPr>
            <a:r>
              <a:rPr sz="1050" b="1">
                <a:solidFill>
                  <a:srgbClr val="3ED7FF"/>
                </a:solidFill>
              </a:rPr>
              <a:t>ACTIVIDAD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5B501E-DE15-4340-9824-D02D8419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C3D6"/>
                </a:solidFill>
              </a:defRPr>
            </a:pPr>
            <a:r>
              <a:rPr sz="1050" b="1">
                <a:solidFill>
                  <a:srgbClr val="A9C3D6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CA8098-E270-47F3-807C-62678C9F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C3D6"/>
                </a:solidFill>
              </a:defRPr>
            </a:pPr>
            <a:r>
              <a:rPr sz="975" b="0">
                <a:solidFill>
                  <a:srgbClr val="A9C3D6"/>
                </a:solidFill>
              </a:rPr>
              <a:t>Juan Francisco Ortega Jiménez · Fundamentos de Ciberseguridad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609DDC-A924-47FB-89C2-1E983F63D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9FF"/>
                </a:solidFill>
              </a:defRPr>
            </a:pPr>
            <a:r>
              <a:rPr sz="2850" b="1">
                <a:solidFill>
                  <a:srgbClr val="F4F9FF"/>
                </a:solidFill>
              </a:rPr>
              <a:t>La actividad integra tres ampliaciones técnicas y dos entregables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A7360E-F1C9-44D8-9A5E-81A1B1FC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ED7FF"/>
                </a:solidFill>
              </a:defRPr>
            </a:pPr>
            <a:r>
              <a:rPr sz="1350" b="1">
                <a:solidFill>
                  <a:srgbClr val="3ED7FF"/>
                </a:solidFill>
              </a:rPr>
              <a:t>OBJETIVO GENERAL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11CFD5-9D4C-4BC6-9F81-D698F9B48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0"/>
            <a:ext cx="5143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9FF"/>
                </a:solidFill>
              </a:defRPr>
            </a:pPr>
            <a:r>
              <a:rPr sz="1875" b="0">
                <a:solidFill>
                  <a:srgbClr val="F4F9FF"/>
                </a:solidFill>
              </a:rPr>
              <a:t>Implementar y documentar, en un laboratorio controlado, un programa que registre eventos de teclado, los asocie temporalmente y transmita telemetría hacia Kali Linux.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7B656B-CEC7-475A-8750-86782E67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1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F2FF91-552F-471F-95B3-843E89374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240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C53D"/>
                </a:solidFill>
              </a:defRPr>
            </a:pPr>
            <a:r>
              <a:rPr sz="1350" b="1">
                <a:solidFill>
                  <a:srgbClr val="FFC53D"/>
                </a:solidFill>
              </a:rPr>
              <a:t>REQUISITOS CENTRALES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578FCF-3DE3-4FF2-81C1-D850D5431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476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4F9FF"/>
                </a:solidFill>
              </a:defRPr>
            </a:pPr>
            <a:r>
              <a:rPr sz="1725" b="0">
                <a:solidFill>
                  <a:srgbClr val="F4F9FF"/>
                </a:solidFill>
              </a:rPr>
              <a:t>1  Persistencia del registro local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F4F9FF"/>
                </a:solidFill>
              </a:defRPr>
            </a:pPr>
            <a:r>
              <a:rPr sz="1725" b="0">
                <a:solidFill>
                  <a:srgbClr val="F4F9FF"/>
                </a:solidFill>
              </a:rPr>
              <a:t>2  Fecha, hora, orden e intervalo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F4F9FF"/>
                </a:solidFill>
              </a:defRPr>
            </a:pPr>
            <a:r>
              <a:rPr sz="1725" b="0">
                <a:solidFill>
                  <a:srgbClr val="F4F9FF"/>
                </a:solidFill>
              </a:rPr>
              <a:t>3  Envío y recepción en Kali Linux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F4F9FF"/>
                </a:solidFill>
              </a:defRPr>
            </a:pPr>
            <a:r>
              <a:rPr sz="1725" b="0">
                <a:solidFill>
                  <a:srgbClr val="F4F9FF"/>
                </a:solidFill>
              </a:rPr>
              <a:t>4  Informe con pruebas y capturas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F4F9FF"/>
                </a:solidFill>
              </a:defRPr>
            </a:pPr>
            <a:r>
              <a:rPr sz="1725" b="0">
                <a:solidFill>
                  <a:srgbClr val="F4F9FF"/>
                </a:solidFill>
              </a:rPr>
              <a:t>5  Publicación HTML en el portafolio</a:t>
            </a:r>
          </a:p>
        </p:txBody>
      </p:sp>
    </p:spTree>
    <p:extLst>
      <p:ext uri="{BB962C8B-B14F-4D97-AF65-F5344CB8AC3E}">
        <p14:creationId xmlns:p14="http://schemas.microsoft.com/office/powerpoint/2010/main" val="20587629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BEAF6F-399F-405D-8F24-6685C75C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09BCE7-696D-4A98-9615-832E562C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87A511-D711-4592-B422-CB6EED71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ED7FF"/>
                </a:solidFill>
              </a:defRPr>
            </a:pPr>
            <a:r>
              <a:rPr sz="1050" b="1">
                <a:solidFill>
                  <a:srgbClr val="3ED7FF"/>
                </a:solidFill>
              </a:rPr>
              <a:t>ACTIVIDAD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1848EE-6807-4A0A-BEAB-F49C2197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C3D6"/>
                </a:solidFill>
              </a:defRPr>
            </a:pPr>
            <a:r>
              <a:rPr sz="1050" b="1">
                <a:solidFill>
                  <a:srgbClr val="A9C3D6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336029-A137-4092-8A86-0E6C871EF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C3D6"/>
                </a:solidFill>
              </a:defRPr>
            </a:pPr>
            <a:r>
              <a:rPr sz="975" b="0">
                <a:solidFill>
                  <a:srgbClr val="A9C3D6"/>
                </a:solidFill>
              </a:rPr>
              <a:t>Juan Francisco Ortega Jiménez · Fundamentos de Ciberseguridad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B8C482-AD9F-4F93-B2DD-F8F0AC620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9FF"/>
                </a:solidFill>
              </a:defRPr>
            </a:pPr>
            <a:r>
              <a:rPr sz="2850" b="1">
                <a:solidFill>
                  <a:srgbClr val="F4F9FF"/>
                </a:solidFill>
              </a:rPr>
              <a:t>El listener básico se amplió hasta generar evidencia auditable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CE6677-0221-41D4-B2BB-D892326A7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431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C53D"/>
                </a:solidFill>
              </a:defRPr>
            </a:pPr>
            <a:r>
              <a:rPr sz="1350" b="1">
                <a:solidFill>
                  <a:srgbClr val="FFC53D"/>
                </a:solidFill>
              </a:rPr>
              <a:t>CÓDIGO BASE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577710-707A-4A62-919B-A750C68E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495300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03101A"/>
          </a:solidFill>
          <a:ln xmlns:a="http://schemas.openxmlformats.org/drawingml/2006/main" w="9525">
            <a:solidFill>
              <a:srgbClr val="28516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A9B03B-A7D2-4E25-960B-35FA46FE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45339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DF7FF"/>
                </a:solidFill>
              </a:defRPr>
            </a:pPr>
            <a:r>
              <a:rPr sz="1350" b="0">
                <a:solidFill>
                  <a:srgbClr val="DDF7FF"/>
                </a:solidFill>
              </a:rPr>
              <a:t>from pynput.keyboard import Key, Listener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DDF7FF"/>
                </a:solidFill>
              </a:defRPr>
            </a:pPr>
            <a:r>
              <a:rPr sz="1350" b="0">
                <a:solidFill>
                  <a:srgbClr val="DDF7FF"/>
                </a:solidFill>
              </a:rPr>
              <a:t>def on_press(key):</a:t>
            </a:r>
          </a:p>
          <a:p xmlns:a="http://schemas.openxmlformats.org/drawingml/2006/main">
            <a:pPr algn="l">
              <a:defRPr sz="1350" b="0">
                <a:solidFill>
                  <a:srgbClr val="DDF7FF"/>
                </a:solidFill>
              </a:defRPr>
            </a:pPr>
            <a:r>
              <a:rPr sz="1350" b="0">
                <a:solidFill>
                  <a:srgbClr val="DDF7FF"/>
                </a:solidFill>
              </a:rPr>
              <a:t>    print(key)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DDF7FF"/>
                </a:solidFill>
              </a:defRPr>
            </a:pPr>
            <a:r>
              <a:rPr sz="1350" b="0">
                <a:solidFill>
                  <a:srgbClr val="DDF7FF"/>
                </a:solidFill>
              </a:rPr>
              <a:t>def on_release(key):</a:t>
            </a:r>
          </a:p>
          <a:p xmlns:a="http://schemas.openxmlformats.org/drawingml/2006/main">
            <a:pPr algn="l">
              <a:defRPr sz="1350" b="0">
                <a:solidFill>
                  <a:srgbClr val="DDF7FF"/>
                </a:solidFill>
              </a:defRPr>
            </a:pPr>
            <a:r>
              <a:rPr sz="1350" b="0">
                <a:solidFill>
                  <a:srgbClr val="DDF7FF"/>
                </a:solidFill>
              </a:rPr>
              <a:t>    if key == Key.esc:</a:t>
            </a:r>
          </a:p>
          <a:p xmlns:a="http://schemas.openxmlformats.org/drawingml/2006/main">
            <a:pPr algn="l">
              <a:defRPr sz="1350" b="0">
                <a:solidFill>
                  <a:srgbClr val="DDF7FF"/>
                </a:solidFill>
              </a:defRPr>
            </a:pPr>
            <a:r>
              <a:rPr sz="1350" b="0">
                <a:solidFill>
                  <a:srgbClr val="DDF7FF"/>
                </a:solidFill>
              </a:rPr>
              <a:t>        return False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66BACB-69F5-4692-A995-7ABAFB4C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431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ED7FF"/>
                </a:solidFill>
              </a:defRPr>
            </a:pPr>
            <a:r>
              <a:rPr sz="1350" b="1">
                <a:solidFill>
                  <a:srgbClr val="3ED7FF"/>
                </a:solidFill>
              </a:rPr>
              <a:t>VERSIÓN AMPLIADA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AED069-283C-4416-ABB0-ACF56599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81250"/>
            <a:ext cx="4762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4F9FF"/>
                </a:solidFill>
              </a:defRPr>
            </a:pPr>
            <a:r>
              <a:rPr sz="1800" b="0">
                <a:solidFill>
                  <a:srgbClr val="F4F9FF"/>
                </a:solidFill>
              </a:rPr>
              <a:t>1  Persistencia en Eventos.txt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F4F9FF"/>
                </a:solidFill>
              </a:defRPr>
            </a:pPr>
            <a:r>
              <a:rPr sz="1800" b="0">
                <a:solidFill>
                  <a:srgbClr val="F4F9FF"/>
                </a:solidFill>
              </a:rPr>
              <a:t>2  Fecha, hora, orden y delta_ms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F4F9FF"/>
                </a:solidFill>
              </a:defRPr>
            </a:pPr>
            <a:r>
              <a:rPr sz="1800" b="0">
                <a:solidFill>
                  <a:srgbClr val="F4F9FF"/>
                </a:solidFill>
              </a:rPr>
              <a:t>3  Envío TCP a 192.168.56.102:5050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F4F9FF"/>
                </a:solidFill>
              </a:defRPr>
            </a:pPr>
            <a:r>
              <a:rPr sz="1800" b="0">
                <a:solidFill>
                  <a:srgbClr val="F4F9FF"/>
                </a:solidFill>
              </a:rPr>
              <a:t>4  Recepción y almacenamiento en Kali</a:t>
            </a:r>
          </a:p>
        </p:txBody>
      </p:sp>
    </p:spTree>
    <p:extLst>
      <p:ext uri="{BB962C8B-B14F-4D97-AF65-F5344CB8AC3E}">
        <p14:creationId xmlns:p14="http://schemas.microsoft.com/office/powerpoint/2010/main" val="18699402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C04374-553B-4182-B839-D1B416BE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24B0C7-73EA-47F1-9079-43BBACC7E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973B05-DD5F-4EDF-AE19-4C9FCF93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ED7FF"/>
                </a:solidFill>
              </a:defRPr>
            </a:pPr>
            <a:r>
              <a:rPr sz="1050" b="1">
                <a:solidFill>
                  <a:srgbClr val="3ED7FF"/>
                </a:solidFill>
              </a:rPr>
              <a:t>ACTIVIDAD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1F6632-08C6-4942-909F-BC7081FD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C3D6"/>
                </a:solidFill>
              </a:defRPr>
            </a:pPr>
            <a:r>
              <a:rPr sz="1050" b="1">
                <a:solidFill>
                  <a:srgbClr val="A9C3D6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FB5A7E-1706-49D7-B0A5-BC546C87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C3D6"/>
                </a:solidFill>
              </a:defRPr>
            </a:pPr>
            <a:r>
              <a:rPr sz="975" b="0">
                <a:solidFill>
                  <a:srgbClr val="A9C3D6"/>
                </a:solidFill>
              </a:rPr>
              <a:t>Juan Francisco Ortega Jiménez · Fundamentos de Ciberseguridad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20E398-965E-4AF5-B535-817913CC4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9FF"/>
                </a:solidFill>
              </a:defRPr>
            </a:pPr>
            <a:r>
              <a:rPr sz="2850" b="1">
                <a:solidFill>
                  <a:srgbClr val="F4F9FF"/>
                </a:solidFill>
              </a:rPr>
              <a:t>Cada tecla recorre cinco etapas hasta quedar documentada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928CBD-C2F6-477C-A643-660CB30E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C3D6"/>
                </a:solidFill>
              </a:defRPr>
            </a:pPr>
            <a:r>
              <a:rPr sz="1350" b="0">
                <a:solidFill>
                  <a:srgbClr val="A9C3D6"/>
                </a:solidFill>
              </a:rPr>
              <a:t>El mismo registro se conserva localmente y se transmite a la máquina receptora.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F3F1CD-9A51-492F-A435-9C341BBD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86050"/>
            <a:ext cx="1714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D43"/>
          </a:solidFill>
          <a:ln xmlns:a="http://schemas.openxmlformats.org/drawingml/2006/main" w="19050">
            <a:solidFill>
              <a:srgbClr val="FFC5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B93828-32FE-403B-ABAE-331AC9FAA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1447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F9FF"/>
                </a:solidFill>
              </a:defRPr>
            </a:pPr>
            <a:r>
              <a:rPr sz="1500" b="1">
                <a:solidFill>
                  <a:srgbClr val="F4F9FF"/>
                </a:solidFill>
              </a:rPr>
              <a:t>TECLADO</a:t>
            </a:r>
          </a:p>
          <a:p xmlns:a="http://schemas.openxmlformats.org/drawingml/2006/main">
            <a:pPr algn="ctr">
              <a:defRPr sz="1500" b="1">
                <a:solidFill>
                  <a:srgbClr val="F4F9FF"/>
                </a:solidFill>
              </a:defRPr>
            </a:pPr>
            <a:r>
              <a:rPr sz="1500" b="1">
                <a:solidFill>
                  <a:srgbClr val="F4F9FF"/>
                </a:solidFill>
              </a:rPr>
              <a:t>Windows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DE8B4C-0BE1-4E8A-A908-5E8802BF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143250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A9C3D6"/>
                </a:solidFill>
              </a:defRPr>
            </a:pPr>
            <a:r>
              <a:rPr sz="2625" b="1">
                <a:solidFill>
                  <a:srgbClr val="A9C3D6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7519F7-F7B8-4F7F-AB8D-D5BB3D39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86050"/>
            <a:ext cx="1714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D43"/>
          </a:solidFill>
          <a:ln xmlns:a="http://schemas.openxmlformats.org/drawingml/2006/main" w="19050">
            <a:solidFill>
              <a:srgbClr val="3ED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49A7F8-4693-410F-8318-399425C7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028950"/>
            <a:ext cx="1447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F9FF"/>
                </a:solidFill>
              </a:defRPr>
            </a:pPr>
            <a:r>
              <a:rPr sz="1500" b="1">
                <a:solidFill>
                  <a:srgbClr val="F4F9FF"/>
                </a:solidFill>
              </a:rPr>
              <a:t>CALLBACK</a:t>
            </a:r>
          </a:p>
          <a:p xmlns:a="http://schemas.openxmlformats.org/drawingml/2006/main">
            <a:pPr algn="ctr">
              <a:defRPr sz="1500" b="1">
                <a:solidFill>
                  <a:srgbClr val="F4F9FF"/>
                </a:solidFill>
              </a:defRPr>
            </a:pPr>
            <a:r>
              <a:rPr sz="1500" b="1">
                <a:solidFill>
                  <a:srgbClr val="F4F9FF"/>
                </a:solidFill>
              </a:rPr>
              <a:t>on_press / on_release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124D2A-F229-4753-A5F1-498640BD7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143250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A9C3D6"/>
                </a:solidFill>
              </a:defRPr>
            </a:pPr>
            <a:r>
              <a:rPr sz="2625" b="1">
                <a:solidFill>
                  <a:srgbClr val="A9C3D6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FC74C5-6854-4C02-8342-B052B478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686050"/>
            <a:ext cx="1714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D43"/>
          </a:solidFill>
          <a:ln xmlns:a="http://schemas.openxmlformats.org/drawingml/2006/main" w="19050">
            <a:solidFill>
              <a:srgbClr val="49E1A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2418CE-9217-42A2-A6C5-CCE8AAA5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28950"/>
            <a:ext cx="1447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F9FF"/>
                </a:solidFill>
              </a:defRPr>
            </a:pPr>
            <a:r>
              <a:rPr sz="1500" b="1">
                <a:solidFill>
                  <a:srgbClr val="F4F9FF"/>
                </a:solidFill>
              </a:rPr>
              <a:t>REGISTRO</a:t>
            </a:r>
          </a:p>
          <a:p xmlns:a="http://schemas.openxmlformats.org/drawingml/2006/main">
            <a:pPr algn="ctr">
              <a:defRPr sz="1500" b="1">
                <a:solidFill>
                  <a:srgbClr val="F4F9FF"/>
                </a:solidFill>
              </a:defRPr>
            </a:pPr>
            <a:r>
              <a:rPr sz="1500" b="1">
                <a:solidFill>
                  <a:srgbClr val="F4F9FF"/>
                </a:solidFill>
              </a:rPr>
              <a:t>Eventos.txt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B298DA-5DFA-412D-8E59-312F30B8F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143250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A9C3D6"/>
                </a:solidFill>
              </a:defRPr>
            </a:pPr>
            <a:r>
              <a:rPr sz="2625" b="1">
                <a:solidFill>
                  <a:srgbClr val="A9C3D6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4FE858-8063-43BA-82FC-F212AE5D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86050"/>
            <a:ext cx="1714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D43"/>
          </a:solidFill>
          <a:ln xmlns:a="http://schemas.openxmlformats.org/drawingml/2006/main" w="19050">
            <a:solidFill>
              <a:srgbClr val="238B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C45154-D3BA-4AB7-A741-DB00409E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028950"/>
            <a:ext cx="1447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F9FF"/>
                </a:solidFill>
              </a:defRPr>
            </a:pPr>
            <a:r>
              <a:rPr sz="1500" b="1">
                <a:solidFill>
                  <a:srgbClr val="F4F9FF"/>
                </a:solidFill>
              </a:rPr>
              <a:t>TCP</a:t>
            </a:r>
          </a:p>
          <a:p xmlns:a="http://schemas.openxmlformats.org/drawingml/2006/main">
            <a:pPr algn="ctr">
              <a:defRPr sz="1500" b="1">
                <a:solidFill>
                  <a:srgbClr val="F4F9FF"/>
                </a:solidFill>
              </a:defRPr>
            </a:pPr>
            <a:r>
              <a:rPr sz="1500" b="1">
                <a:solidFill>
                  <a:srgbClr val="F4F9FF"/>
                </a:solidFill>
              </a:rPr>
              <a:t>Puerto 5050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922A12-76A2-4F73-9241-7CE0F9D5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143250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A9C3D6"/>
                </a:solidFill>
              </a:defRPr>
            </a:pPr>
            <a:r>
              <a:rPr sz="2625" b="1">
                <a:solidFill>
                  <a:srgbClr val="A9C3D6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72AD7E-0C3F-4705-83B0-0ECA81607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86050"/>
            <a:ext cx="1714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D43"/>
          </a:solidFill>
          <a:ln xmlns:a="http://schemas.openxmlformats.org/drawingml/2006/main" w="19050">
            <a:solidFill>
              <a:srgbClr val="3ED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AEE206-6EBE-4461-B67A-2CC4300A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028950"/>
            <a:ext cx="1447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F9FF"/>
                </a:solidFill>
              </a:defRPr>
            </a:pPr>
            <a:r>
              <a:rPr sz="1500" b="1">
                <a:solidFill>
                  <a:srgbClr val="F4F9FF"/>
                </a:solidFill>
              </a:rPr>
              <a:t>RECEPTOR</a:t>
            </a:r>
          </a:p>
          <a:p xmlns:a="http://schemas.openxmlformats.org/drawingml/2006/main">
            <a:pPr algn="ctr">
              <a:defRPr sz="1500" b="1">
                <a:solidFill>
                  <a:srgbClr val="F4F9FF"/>
                </a:solidFill>
              </a:defRPr>
            </a:pPr>
            <a:r>
              <a:rPr sz="1500" b="1">
                <a:solidFill>
                  <a:srgbClr val="F4F9FF"/>
                </a:solidFill>
              </a:rPr>
              <a:t>Kali Linux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6A9CA0-2580-406B-8E45-ED83CA1D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14875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A9C3D6"/>
                </a:solidFill>
              </a:defRPr>
            </a:pPr>
            <a:r>
              <a:rPr sz="1800" b="0">
                <a:solidFill>
                  <a:srgbClr val="A9C3D6"/>
                </a:solidFill>
              </a:rPr>
              <a:t>El contador y la marca temporal permiten correlacionar el evento enviado con el evento recibido.</a:t>
            </a:r>
          </a:p>
        </p:txBody>
      </p:sp>
    </p:spTree>
    <p:extLst>
      <p:ext uri="{BB962C8B-B14F-4D97-AF65-F5344CB8AC3E}">
        <p14:creationId xmlns:p14="http://schemas.microsoft.com/office/powerpoint/2010/main" val="1175851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139288-174B-496E-A082-25ACCD48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39CCFB-D78E-4E5E-AB95-647DC58BA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05F999-FBB1-49B2-854B-FD67F8D9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ED7FF"/>
                </a:solidFill>
              </a:defRPr>
            </a:pPr>
            <a:r>
              <a:rPr sz="1050" b="1">
                <a:solidFill>
                  <a:srgbClr val="3ED7FF"/>
                </a:solidFill>
              </a:rPr>
              <a:t>DOCUMENTACIÓN DEL CÓDIGO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EB56F0-2618-4600-BA1F-DF6A800A6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C3D6"/>
                </a:solidFill>
              </a:defRPr>
            </a:pPr>
            <a:r>
              <a:rPr sz="1050" b="1">
                <a:solidFill>
                  <a:srgbClr val="A9C3D6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6829F1-0E5E-416E-A6FF-0749D650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C3D6"/>
                </a:solidFill>
              </a:defRPr>
            </a:pPr>
            <a:r>
              <a:rPr sz="975" b="0">
                <a:solidFill>
                  <a:srgbClr val="A9C3D6"/>
                </a:solidFill>
              </a:rPr>
              <a:t>Juan Francisco Ortega Jiménez · Fundamentos de Ciberseguridad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00D509-1611-4313-A4F8-49D6FA27F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9FF"/>
                </a:solidFill>
              </a:defRPr>
            </a:pPr>
            <a:r>
              <a:rPr sz="2850" b="1">
                <a:solidFill>
                  <a:srgbClr val="F4F9FF"/>
                </a:solidFill>
              </a:rPr>
              <a:t>Variables y librerías del emisor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9CA60A-6EB5-4B98-97C3-7D490E15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ED7FF"/>
                </a:solidFill>
              </a:defRPr>
            </a:pPr>
            <a:r>
              <a:rPr sz="1575" b="1">
                <a:solidFill>
                  <a:srgbClr val="3ED7FF"/>
                </a:solidFill>
              </a:rPr>
              <a:t>datetime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F595A6-C6C8-4038-8EA9-3C4D2A57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4048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C3D6"/>
                </a:solidFill>
              </a:defRPr>
            </a:pPr>
            <a:r>
              <a:rPr sz="1350" b="0">
                <a:solidFill>
                  <a:srgbClr val="A9C3D6"/>
                </a:solidFill>
              </a:rPr>
              <a:t>Genera fecha, hora, milisegundos y zona horaria.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78DDA4-18B3-4F45-962E-C104393F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765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C53D"/>
                </a:solidFill>
              </a:defRPr>
            </a:pPr>
            <a:r>
              <a:rPr sz="1575" b="1">
                <a:solidFill>
                  <a:srgbClr val="FFC53D"/>
                </a:solidFill>
              </a:rPr>
              <a:t>socket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55BCAA-BF4E-4529-96B6-3EE4063AB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0400"/>
            <a:ext cx="4048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C3D6"/>
                </a:solidFill>
              </a:defRPr>
            </a:pPr>
            <a:r>
              <a:rPr sz="1350" b="0">
                <a:solidFill>
                  <a:srgbClr val="A9C3D6"/>
                </a:solidFill>
              </a:rPr>
              <a:t>Crea la conexión TCP y transmite cada línea a Kali.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1C447F-20E2-4DF6-BC0E-FA805116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9E1A1"/>
                </a:solidFill>
              </a:defRPr>
            </a:pPr>
            <a:r>
              <a:rPr sz="1575" b="1">
                <a:solidFill>
                  <a:srgbClr val="49E1A1"/>
                </a:solidFill>
              </a:rPr>
              <a:t>perf_counter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CA6691-EB1A-4DA8-A5EA-039047083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33850"/>
            <a:ext cx="4048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C3D6"/>
                </a:solidFill>
              </a:defRPr>
            </a:pPr>
            <a:r>
              <a:rPr sz="1350" b="0">
                <a:solidFill>
                  <a:srgbClr val="A9C3D6"/>
                </a:solidFill>
              </a:rPr>
              <a:t>Mide el intervalo preciso entre dos eventos consecutivos.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7A7C42-3641-4E2A-B9A9-A23EEA69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434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ED7FF"/>
                </a:solidFill>
              </a:defRPr>
            </a:pPr>
            <a:r>
              <a:rPr sz="1575" b="1">
                <a:solidFill>
                  <a:srgbClr val="3ED7FF"/>
                </a:solidFill>
              </a:rPr>
              <a:t>Key + Listener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55AFDD-C1DC-417B-BF93-4543F212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67300"/>
            <a:ext cx="4048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C3D6"/>
                </a:solidFill>
              </a:defRPr>
            </a:pPr>
            <a:r>
              <a:rPr sz="1350" b="0">
                <a:solidFill>
                  <a:srgbClr val="A9C3D6"/>
                </a:solidFill>
              </a:rPr>
              <a:t>Identifican teclas especiales y mantienen activos los callbacks.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7DE22B-7241-40C6-BA13-535A366A6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09750"/>
            <a:ext cx="65151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091A27"/>
          </a:solidFill>
          <a:ln xmlns:a="http://schemas.openxmlformats.org/drawingml/2006/main" w="9525">
            <a:solidFill>
              <a:srgbClr val="285169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a66f67e7264f92"/>
          <a:stretch xmlns:a="http://schemas.openxmlformats.org/drawingml/2006/main"/>
        </p:blipFill>
        <p:spPr>
          <a:xfrm xmlns:a="http://schemas.openxmlformats.org/drawingml/2006/main">
            <a:off x="6109784" y="1885950"/>
            <a:ext cx="4430133" cy="3943350"/>
          </a:xfrm>
          <a:prstGeom xmlns:a="http://schemas.openxmlformats.org/drawingml/2006/main" prst="roundRect">
            <a:avLst>
              <a:gd name="adj" fmla="val 2899"/>
            </a:avLst>
          </a:prstGeom>
        </p:spPr>
      </p:pic>
    </p:spTree>
    <p:extLst>
      <p:ext uri="{BB962C8B-B14F-4D97-AF65-F5344CB8AC3E}">
        <p14:creationId xmlns:p14="http://schemas.microsoft.com/office/powerpoint/2010/main" val="21431685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C4BEC2-9021-44C3-B489-4BDEDC27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6D8822-04B1-4085-8D6B-16B2D706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5612EB-5FA4-469C-A00F-0F4BBB04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ED7FF"/>
                </a:solidFill>
              </a:defRPr>
            </a:pPr>
            <a:r>
              <a:rPr sz="1050" b="1">
                <a:solidFill>
                  <a:srgbClr val="3ED7FF"/>
                </a:solidFill>
              </a:rPr>
              <a:t>DOCUMENTACIÓN DEL CÓDIGO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FADF7D-CB20-4618-B213-63E31BEA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C3D6"/>
                </a:solidFill>
              </a:defRPr>
            </a:pPr>
            <a:r>
              <a:rPr sz="1050" b="1">
                <a:solidFill>
                  <a:srgbClr val="A9C3D6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ADA71B-40B8-438C-ACFC-109AEE0C7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C3D6"/>
                </a:solidFill>
              </a:defRPr>
            </a:pPr>
            <a:r>
              <a:rPr sz="975" b="0">
                <a:solidFill>
                  <a:srgbClr val="A9C3D6"/>
                </a:solidFill>
              </a:rPr>
              <a:t>Juan Francisco Ortega Jiménez · Fundamentos de Ciberseguridad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37EFFE-B137-45DD-B018-F9943E8BB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9FF"/>
                </a:solidFill>
              </a:defRPr>
            </a:pPr>
            <a:r>
              <a:rPr sz="2850" b="1">
                <a:solidFill>
                  <a:srgbClr val="F4F9FF"/>
                </a:solidFill>
              </a:rPr>
              <a:t>La red puede fallar sin provocar la pérdida del registro local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42F558-5360-4711-8A33-19246AD1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619125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091A27"/>
          </a:solidFill>
          <a:ln xmlns:a="http://schemas.openxmlformats.org/drawingml/2006/main" w="9525">
            <a:solidFill>
              <a:srgbClr val="285169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204452693a438a"/>
          <a:stretch xmlns:a="http://schemas.openxmlformats.org/drawingml/2006/main"/>
        </p:blipFill>
        <p:spPr>
          <a:xfrm xmlns:a="http://schemas.openxmlformats.org/drawingml/2006/main">
            <a:off x="1275876" y="1924050"/>
            <a:ext cx="4858698" cy="3943350"/>
          </a:xfrm>
          <a:prstGeom xmlns:a="http://schemas.openxmlformats.org/drawingml/2006/main" prst="roundRect">
            <a:avLst>
              <a:gd name="adj" fmla="val 2899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CB0127-CD60-424F-A70C-7C2980CE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0002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ED7FF"/>
                </a:solidFill>
              </a:defRPr>
            </a:pPr>
            <a:r>
              <a:rPr sz="1725" b="1">
                <a:solidFill>
                  <a:srgbClr val="3ED7FF"/>
                </a:solidFill>
              </a:rPr>
              <a:t>conectar_con_kali()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4A34CA-C11C-41CF-A428-CA4C6750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00300"/>
            <a:ext cx="4095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9FF"/>
                </a:solidFill>
              </a:defRPr>
            </a:pPr>
            <a:r>
              <a:rPr sz="1500" b="0">
                <a:solidFill>
                  <a:srgbClr val="F4F9FF"/>
                </a:solidFill>
              </a:rPr>
              <a:t>Abre una conexión TCP con la IP y el puerto configurados. El timeout de 3 segundos evita que el programa permanezca bloqueado si Kali no responde.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498999-AE89-4A5E-85A7-F4960981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7909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C53D"/>
                </a:solidFill>
              </a:defRPr>
            </a:pPr>
            <a:r>
              <a:rPr sz="1725" b="1">
                <a:solidFill>
                  <a:srgbClr val="FFC53D"/>
                </a:solidFill>
              </a:rPr>
              <a:t>enviar_a_kali(registro)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1CC6F1-F16B-4506-AAB3-1E569F0D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191000"/>
            <a:ext cx="4095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9FF"/>
                </a:solidFill>
              </a:defRPr>
            </a:pPr>
            <a:r>
              <a:rPr sz="1500" b="0">
                <a:solidFill>
                  <a:srgbClr val="F4F9FF"/>
                </a:solidFill>
              </a:rPr>
              <a:t>Codifica la línea en UTF-8, agrega un salto de línea y utiliza sendall(). Si ocurre un error, cierra el socket y conserva el evento en Eventos.txt.</a:t>
            </a:r>
          </a:p>
        </p:txBody>
      </p:sp>
    </p:spTree>
    <p:extLst>
      <p:ext uri="{BB962C8B-B14F-4D97-AF65-F5344CB8AC3E}">
        <p14:creationId xmlns:p14="http://schemas.microsoft.com/office/powerpoint/2010/main" val="1733741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FE42EA-0F7B-4CCD-8977-6743D644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F949CC-1E8C-40BB-8218-692F60F70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FEA073-C84E-4824-8037-936635E15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ED7FF"/>
                </a:solidFill>
              </a:defRPr>
            </a:pPr>
            <a:r>
              <a:rPr sz="1050" b="1">
                <a:solidFill>
                  <a:srgbClr val="3ED7FF"/>
                </a:solidFill>
              </a:rPr>
              <a:t>DOCUMENTACIÓN DEL CÓDIGO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416F1F-2B85-485F-B514-18608BECE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C3D6"/>
                </a:solidFill>
              </a:defRPr>
            </a:pPr>
            <a:r>
              <a:rPr sz="1050" b="1">
                <a:solidFill>
                  <a:srgbClr val="A9C3D6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E82AAB-41A9-4982-97C1-4E0A8740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C3D6"/>
                </a:solidFill>
              </a:defRPr>
            </a:pPr>
            <a:r>
              <a:rPr sz="975" b="0">
                <a:solidFill>
                  <a:srgbClr val="A9C3D6"/>
                </a:solidFill>
              </a:rPr>
              <a:t>Juan Francisco Ortega Jiménez · Fundamentos de Ciberseguridad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B196C2-9261-4ED5-B5F9-8E72313D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9FF"/>
                </a:solidFill>
              </a:defRPr>
            </a:pPr>
            <a:r>
              <a:rPr sz="2850" b="1">
                <a:solidFill>
                  <a:srgbClr val="F4F9FF"/>
                </a:solidFill>
              </a:rPr>
              <a:t>guardar_evento convierte cada acción en una línea correlacionable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9368CF-364C-4B08-90CA-463902D3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C53D"/>
                </a:solidFill>
              </a:defRPr>
            </a:pPr>
            <a:r>
              <a:rPr sz="2100" b="1">
                <a:solidFill>
                  <a:srgbClr val="FFC53D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FDA93A-04E8-4C95-9B2C-53D8393E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38350"/>
            <a:ext cx="3857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9FF"/>
                </a:solidFill>
              </a:defRPr>
            </a:pPr>
            <a:r>
              <a:rPr sz="1500" b="0">
                <a:solidFill>
                  <a:srgbClr val="F4F9FF"/>
                </a:solidFill>
              </a:rPr>
              <a:t>Calcula delta_ms con perf_counter().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1DB2E6-BF32-4D65-A25F-9D9CED69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ED7FF"/>
                </a:solidFill>
              </a:defRPr>
            </a:pPr>
            <a:r>
              <a:rPr sz="2100" b="1">
                <a:solidFill>
                  <a:srgbClr val="3ED7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FB4367-E14D-414D-9E90-2D798693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05100"/>
            <a:ext cx="3857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9FF"/>
                </a:solidFill>
              </a:defRPr>
            </a:pPr>
            <a:r>
              <a:rPr sz="1500" b="0">
                <a:solidFill>
                  <a:srgbClr val="F4F9FF"/>
                </a:solidFill>
              </a:rPr>
              <a:t>Genera fecha, evento y descripción de tecla.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2E2BCC-43D6-4F75-9AED-C86780438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86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9E1A1"/>
                </a:solidFill>
              </a:defRPr>
            </a:pPr>
            <a:r>
              <a:rPr sz="2100" b="1">
                <a:solidFill>
                  <a:srgbClr val="49E1A1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08B056-0571-4BF8-9CEA-B3B16810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24250"/>
            <a:ext cx="3857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9FF"/>
                </a:solidFill>
              </a:defRPr>
            </a:pPr>
            <a:r>
              <a:rPr sz="1500" b="0">
                <a:solidFill>
                  <a:srgbClr val="F4F9FF"/>
                </a:solidFill>
              </a:rPr>
              <a:t>Escribe en modo a para no borrar datos previos.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10A00E-AA97-46C2-8BD9-E47C9E6D4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05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38BFF"/>
                </a:solidFill>
              </a:defRPr>
            </a:pPr>
            <a:r>
              <a:rPr sz="2100" b="1">
                <a:solidFill>
                  <a:srgbClr val="238BFF"/>
                </a:solidFill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B82E0A-50E6-4358-A868-24EE4A36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43400"/>
            <a:ext cx="3857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9FF"/>
                </a:solidFill>
              </a:defRPr>
            </a:pPr>
            <a:r>
              <a:rPr sz="1500" b="0">
                <a:solidFill>
                  <a:srgbClr val="F4F9FF"/>
                </a:solidFill>
              </a:rPr>
              <a:t>Envía la misma línea y muestra ENVIADO o SOLO_LOCAL.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16BDD9-9E16-4C80-9790-7B3A487D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428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9C3D6"/>
                </a:solidFill>
              </a:defRPr>
            </a:pPr>
            <a:r>
              <a:rPr sz="1350" b="1">
                <a:solidFill>
                  <a:srgbClr val="A9C3D6"/>
                </a:solidFill>
              </a:rPr>
              <a:t>Los callbacks on_press y on_release llaman a esta función; Esc devuelve False y termina el listener.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37134D-CC44-498C-9C23-FEE5CE471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847850"/>
            <a:ext cx="62865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091A27"/>
          </a:solidFill>
          <a:ln xmlns:a="http://schemas.openxmlformats.org/drawingml/2006/main" w="9525">
            <a:solidFill>
              <a:srgbClr val="285169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fa3e0949834d50"/>
          <a:stretch xmlns:a="http://schemas.openxmlformats.org/drawingml/2006/main"/>
        </p:blipFill>
        <p:spPr>
          <a:xfrm xmlns:a="http://schemas.openxmlformats.org/drawingml/2006/main">
            <a:off x="6012473" y="1924050"/>
            <a:ext cx="4853354" cy="3943350"/>
          </a:xfrm>
          <a:prstGeom xmlns:a="http://schemas.openxmlformats.org/drawingml/2006/main" prst="roundRect">
            <a:avLst>
              <a:gd name="adj" fmla="val 2899"/>
            </a:avLst>
          </a:prstGeom>
        </p:spPr>
      </p:pic>
    </p:spTree>
    <p:extLst>
      <p:ext uri="{BB962C8B-B14F-4D97-AF65-F5344CB8AC3E}">
        <p14:creationId xmlns:p14="http://schemas.microsoft.com/office/powerpoint/2010/main" val="9928203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E7BF35-25FA-407A-B64B-E2EB3B9C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43F2B6-621F-441E-96E4-B9F947C7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F767CE-1F25-4E32-99BD-2F009EC61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ED7FF"/>
                </a:solidFill>
              </a:defRPr>
            </a:pPr>
            <a:r>
              <a:rPr sz="1050" b="1">
                <a:solidFill>
                  <a:srgbClr val="3ED7FF"/>
                </a:solidFill>
              </a:rPr>
              <a:t>DOCUMENTACIÓN DEL CÓDIGO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5F1C2A-6674-4127-9773-A5CA58967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C3D6"/>
                </a:solidFill>
              </a:defRPr>
            </a:pPr>
            <a:r>
              <a:rPr sz="1050" b="1">
                <a:solidFill>
                  <a:srgbClr val="A9C3D6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261719-FCD9-4CB0-BB41-780EA06B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C3D6"/>
                </a:solidFill>
              </a:defRPr>
            </a:pPr>
            <a:r>
              <a:rPr sz="975" b="0">
                <a:solidFill>
                  <a:srgbClr val="A9C3D6"/>
                </a:solidFill>
              </a:rPr>
              <a:t>Juan Francisco Ortega Jiménez · Fundamentos de Ciberseguridad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CACB05-02EE-4258-97FA-1B5FA99B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9FF"/>
                </a:solidFill>
              </a:defRPr>
            </a:pPr>
            <a:r>
              <a:rPr sz="2850" b="1">
                <a:solidFill>
                  <a:srgbClr val="F4F9FF"/>
                </a:solidFill>
              </a:rPr>
              <a:t>main controla el inicio, la escucha y el cierre seguro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866015-55C4-4191-ADE1-42FB30BA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62865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091A27"/>
          </a:solidFill>
          <a:ln xmlns:a="http://schemas.openxmlformats.org/drawingml/2006/main" w="9525">
            <a:solidFill>
              <a:srgbClr val="285169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2aba8be65d457f"/>
          <a:stretch xmlns:a="http://schemas.openxmlformats.org/drawingml/2006/main"/>
        </p:blipFill>
        <p:spPr>
          <a:xfrm xmlns:a="http://schemas.openxmlformats.org/drawingml/2006/main">
            <a:off x="685800" y="2324985"/>
            <a:ext cx="6134100" cy="3141481"/>
          </a:xfrm>
          <a:prstGeom xmlns:a="http://schemas.openxmlformats.org/drawingml/2006/main" prst="roundRect">
            <a:avLst>
              <a:gd name="adj" fmla="val 2899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65066D-D42D-42BF-B569-B8D4DDD9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002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ED7FF"/>
                </a:solidFill>
              </a:defRPr>
            </a:pPr>
            <a:r>
              <a:rPr sz="1725" b="1">
                <a:solidFill>
                  <a:srgbClr val="3ED7FF"/>
                </a:solidFill>
              </a:rPr>
              <a:t>Inicio visible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768865-2394-4520-B254-8219B0AE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43150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C3D6"/>
                </a:solidFill>
              </a:defRPr>
            </a:pPr>
            <a:r>
              <a:rPr sz="1425" b="0">
                <a:solidFill>
                  <a:srgbClr val="A9C3D6"/>
                </a:solidFill>
              </a:rPr>
              <a:t>Muestra advertencias y exige escribir LABORATORIO.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C9A943-887D-4E7E-9F70-0475CC9FF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623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C53D"/>
                </a:solidFill>
              </a:defRPr>
            </a:pPr>
            <a:r>
              <a:rPr sz="1725" b="1">
                <a:solidFill>
                  <a:srgbClr val="FFC53D"/>
                </a:solidFill>
              </a:rPr>
              <a:t>Escucha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83A9AD-BFA4-460D-B2D4-E1727319A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05200"/>
            <a:ext cx="3810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C3D6"/>
                </a:solidFill>
              </a:defRPr>
            </a:pPr>
            <a:r>
              <a:rPr sz="1425" b="0">
                <a:solidFill>
                  <a:srgbClr val="A9C3D6"/>
                </a:solidFill>
              </a:rPr>
              <a:t>Listener enlaza on_press y on_release y mantiene el proceso activo con join().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A43BA3-86A7-42FD-97E4-25971770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910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9E1A1"/>
                </a:solidFill>
              </a:defRPr>
            </a:pPr>
            <a:r>
              <a:rPr sz="1725" b="1">
                <a:solidFill>
                  <a:srgbClr val="49E1A1"/>
                </a:solidFill>
              </a:rPr>
              <a:t>Cierre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24D80D-265F-4963-A39A-F353BF1E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933950"/>
            <a:ext cx="3810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C3D6"/>
                </a:solidFill>
              </a:defRPr>
            </a:pPr>
            <a:r>
              <a:rPr sz="1425" b="0">
                <a:solidFill>
                  <a:srgbClr val="A9C3D6"/>
                </a:solidFill>
              </a:rPr>
              <a:t>finally cierra el socket aun cuando termine la prueba y confirma la ubicación del registro.</a:t>
            </a:r>
          </a:p>
        </p:txBody>
      </p:sp>
    </p:spTree>
    <p:extLst>
      <p:ext uri="{BB962C8B-B14F-4D97-AF65-F5344CB8AC3E}">
        <p14:creationId xmlns:p14="http://schemas.microsoft.com/office/powerpoint/2010/main" val="13056995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75D83C-8B45-43E7-9698-DE026C98F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E3F70A-9274-4E12-A3D1-9E65954A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45EC46-DD64-4512-A869-261CCD8C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ED7FF"/>
                </a:solidFill>
              </a:defRPr>
            </a:pPr>
            <a:r>
              <a:rPr sz="1050" b="1">
                <a:solidFill>
                  <a:srgbClr val="3ED7FF"/>
                </a:solidFill>
              </a:rPr>
              <a:t>DOCUMENTACIÓN DEL RECEPTOR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6C74F3-E30D-4497-B8E7-9BAF4DDB3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C3D6"/>
                </a:solidFill>
              </a:defRPr>
            </a:pPr>
            <a:r>
              <a:rPr sz="1050" b="1">
                <a:solidFill>
                  <a:srgbClr val="A9C3D6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73353D-A4A3-4891-B21F-628FA3675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C3D6"/>
                </a:solidFill>
              </a:defRPr>
            </a:pPr>
            <a:r>
              <a:rPr sz="975" b="0">
                <a:solidFill>
                  <a:srgbClr val="A9C3D6"/>
                </a:solidFill>
              </a:rPr>
              <a:t>Juan Francisco Ortega Jiménez · Fundamentos de Ciberseguridad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95DCD4-D0A0-4343-9B55-A86E315E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9FF"/>
                </a:solidFill>
              </a:defRPr>
            </a:pPr>
            <a:r>
              <a:rPr sz="2850" b="1">
                <a:solidFill>
                  <a:srgbClr val="F4F9FF"/>
                </a:solidFill>
              </a:rPr>
              <a:t>Kali recibe líneas completas y conserva una segunda evidencia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671FBB-6636-4349-8359-025D9D4F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495300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03101A"/>
          </a:solidFill>
          <a:ln xmlns:a="http://schemas.openxmlformats.org/drawingml/2006/main" w="9525">
            <a:solidFill>
              <a:srgbClr val="28516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0D2CDB-E62B-45F9-8529-99A01791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28850"/>
            <a:ext cx="45339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DF7FF"/>
                </a:solidFill>
              </a:defRPr>
            </a:pPr>
            <a:r>
              <a:rPr sz="1500" b="0">
                <a:solidFill>
                  <a:srgbClr val="DDF7FF"/>
                </a:solidFill>
              </a:rPr>
              <a:t>HOST = "0.0.0.0"</a:t>
            </a:r>
          </a:p>
          <a:p xmlns:a="http://schemas.openxmlformats.org/drawingml/2006/main">
            <a:pPr algn="l">
              <a:defRPr sz="1500" b="0">
                <a:solidFill>
                  <a:srgbClr val="DDF7FF"/>
                </a:solidFill>
              </a:defRPr>
            </a:pPr>
            <a:r>
              <a:rPr sz="1500" b="0">
                <a:solidFill>
                  <a:srgbClr val="DDF7FF"/>
                </a:solidFill>
              </a:rPr>
              <a:t>PUERTO = 5050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DDF7FF"/>
                </a:solidFill>
              </a:defRPr>
            </a:pPr>
            <a:r>
              <a:rPr sz="1500" b="0">
                <a:solidFill>
                  <a:srgbClr val="DDF7FF"/>
                </a:solidFill>
              </a:rPr>
              <a:t>servidor.bind((HOST, PUERTO))</a:t>
            </a:r>
          </a:p>
          <a:p xmlns:a="http://schemas.openxmlformats.org/drawingml/2006/main">
            <a:pPr algn="l">
              <a:defRPr sz="1500" b="0">
                <a:solidFill>
                  <a:srgbClr val="DDF7FF"/>
                </a:solidFill>
              </a:defRPr>
            </a:pPr>
            <a:r>
              <a:rPr sz="1500" b="0">
                <a:solidFill>
                  <a:srgbClr val="DDF7FF"/>
                </a:solidFill>
              </a:rPr>
              <a:t>servidor.listen(1)</a:t>
            </a:r>
          </a:p>
          <a:p xmlns:a="http://schemas.openxmlformats.org/drawingml/2006/main">
            <a:pPr algn="l">
              <a:defRPr sz="1500" b="0">
                <a:solidFill>
                  <a:srgbClr val="DDF7FF"/>
                </a:solidFill>
              </a:defRPr>
            </a:pPr>
            <a:r>
              <a:rPr sz="1500" b="0">
                <a:solidFill>
                  <a:srgbClr val="DDF7FF"/>
                </a:solidFill>
              </a:rPr>
              <a:t>conexion, direccion = servidor.accept()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12857C-03EB-47A1-B971-AD8D86294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764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ED7FF"/>
                </a:solidFill>
              </a:defRPr>
            </a:pPr>
            <a:r>
              <a:rPr sz="1725" b="1">
                <a:solidFill>
                  <a:srgbClr val="3ED7FF"/>
                </a:solidFill>
              </a:rPr>
              <a:t>bind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82D7E3-4772-4D90-9848-0B070DEB7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095500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9FF"/>
                </a:solidFill>
              </a:defRPr>
            </a:pPr>
            <a:r>
              <a:rPr sz="1425" b="0">
                <a:solidFill>
                  <a:srgbClr val="F4F9FF"/>
                </a:solidFill>
              </a:rPr>
              <a:t>Asocia el servidor al puerto 5050 en todas las interfaces de Kali.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F9DCC7-440B-489D-BCFE-EEE0AAEB1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0289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C53D"/>
                </a:solidFill>
              </a:defRPr>
            </a:pPr>
            <a:r>
              <a:rPr sz="1725" b="1">
                <a:solidFill>
                  <a:srgbClr val="FFC53D"/>
                </a:solidFill>
              </a:rPr>
              <a:t>listen + accept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4A048C-F4B1-4C95-A45A-E70A1582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48000"/>
            <a:ext cx="2933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9FF"/>
                </a:solidFill>
              </a:defRPr>
            </a:pPr>
            <a:r>
              <a:rPr sz="1425" b="0">
                <a:solidFill>
                  <a:srgbClr val="F4F9FF"/>
                </a:solidFill>
              </a:rPr>
              <a:t>Espera una conexión y conserva la dirección IP del emisor.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2E0EC1-8B5A-428E-B2D7-2C58A7C79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195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9E1A1"/>
                </a:solidFill>
              </a:defRPr>
            </a:pPr>
            <a:r>
              <a:rPr sz="1725" b="1">
                <a:solidFill>
                  <a:srgbClr val="49E1A1"/>
                </a:solidFill>
              </a:rPr>
              <a:t>recv + acumulado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839841-C65C-483B-8A6B-01187427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38600"/>
            <a:ext cx="2933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9FF"/>
                </a:solidFill>
              </a:defRPr>
            </a:pPr>
            <a:r>
              <a:rPr sz="1425" b="0">
                <a:solidFill>
                  <a:srgbClr val="F4F9FF"/>
                </a:solidFill>
              </a:rPr>
              <a:t>Reconstruye cada línea recibida y la almacena en Eventos_Recibidos_Kali.txt.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9C128F-E57E-4334-AA98-335AFC68F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0"/>
            <a:ext cx="1028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A9C3D6"/>
                </a:solidFill>
              </a:defRPr>
            </a:pPr>
            <a:r>
              <a:rPr sz="1650" b="0">
                <a:solidFill>
                  <a:srgbClr val="A9C3D6"/>
                </a:solidFill>
              </a:rPr>
              <a:t>El receptor añade su propia hora de recepción y la IP de origen, facilitando comparar ambos extremos.</a:t>
            </a:r>
          </a:p>
        </p:txBody>
      </p:sp>
    </p:spTree>
    <p:extLst>
      <p:ext uri="{BB962C8B-B14F-4D97-AF65-F5344CB8AC3E}">
        <p14:creationId xmlns:p14="http://schemas.microsoft.com/office/powerpoint/2010/main" val="17335836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7823CD-806B-4A60-855E-7B094778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C3A17C-DE49-4590-ADD9-71A403D24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82AA0B-84FA-46D2-A0A8-F84E195E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ED7FF"/>
                </a:solidFill>
              </a:defRPr>
            </a:pPr>
            <a:r>
              <a:rPr sz="1050" b="1">
                <a:solidFill>
                  <a:srgbClr val="3ED7FF"/>
                </a:solidFill>
              </a:rPr>
              <a:t>ACTIVIDAD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A1C4C2-47C8-4BC1-851E-506C62E4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C3D6"/>
                </a:solidFill>
              </a:defRPr>
            </a:pPr>
            <a:r>
              <a:rPr sz="1050" b="1">
                <a:solidFill>
                  <a:srgbClr val="A9C3D6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ECEE1D-D548-41EC-B0C2-37DC5222D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C3D6"/>
                </a:solidFill>
              </a:defRPr>
            </a:pPr>
            <a:r>
              <a:rPr sz="975" b="0">
                <a:solidFill>
                  <a:srgbClr val="A9C3D6"/>
                </a:solidFill>
              </a:rPr>
              <a:t>Juan Francisco Ortega Jiménez · Fundamentos de Ciberseguridad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FAECCC-FDA8-42B2-AA4B-DC579FC7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9FF"/>
                </a:solidFill>
              </a:defRPr>
            </a:pPr>
            <a:r>
              <a:rPr sz="2850" b="1">
                <a:solidFill>
                  <a:srgbClr val="F4F9FF"/>
                </a:solidFill>
              </a:rPr>
              <a:t>La persistencia evita que los eventos desaparezcan al cerrar el programa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6FE6C7-CB63-44DB-B139-775090D11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5715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3101A"/>
          </a:solidFill>
          <a:ln xmlns:a="http://schemas.openxmlformats.org/drawingml/2006/main" w="9525">
            <a:solidFill>
              <a:srgbClr val="28516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6C4706-D3A3-4654-9611-9F2E8301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52959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DF7FF"/>
                </a:solidFill>
              </a:defRPr>
            </a:pPr>
            <a:r>
              <a:rPr sz="1575" b="0">
                <a:solidFill>
                  <a:srgbClr val="DDF7FF"/>
                </a:solidFill>
              </a:rPr>
              <a:t>with open(ARCHIVO_LOCAL, "a", encoding="utf-8") as archivo:</a:t>
            </a:r>
          </a:p>
          <a:p xmlns:a="http://schemas.openxmlformats.org/drawingml/2006/main">
            <a:pPr algn="l">
              <a:defRPr sz="1575" b="0">
                <a:solidFill>
                  <a:srgbClr val="DDF7FF"/>
                </a:solidFill>
              </a:defRPr>
            </a:pPr>
            <a:r>
              <a:rPr sz="1575" b="0">
                <a:solidFill>
                  <a:srgbClr val="DDF7FF"/>
                </a:solidFill>
              </a:rPr>
              <a:t>    archivo.write(registro + "\n")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F671E0-E7E8-46C2-B6EC-25182173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67200"/>
            <a:ext cx="5619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9C3D6"/>
                </a:solidFill>
              </a:defRPr>
            </a:pPr>
            <a:r>
              <a:rPr sz="1650" b="0">
                <a:solidFill>
                  <a:srgbClr val="A9C3D6"/>
                </a:solidFill>
              </a:rPr>
              <a:t>El modo a agrega nuevas líneas sin borrar los registros anteriores. Al terminar el listener, Eventos.txt permanece disponible para su revisión.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843714-65B0-4A94-88D3-71F1E177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95500"/>
            <a:ext cx="4648200" cy="28765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102D43"/>
          </a:solidFill>
          <a:ln xmlns:a="http://schemas.openxmlformats.org/drawingml/2006/main" w="19050">
            <a:solidFill>
              <a:srgbClr val="3ED7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A79246-7EA1-4EAC-AEDA-A98BFF76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003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ED7FF"/>
                </a:solidFill>
              </a:defRPr>
            </a:pPr>
            <a:r>
              <a:rPr sz="1275" b="1">
                <a:solidFill>
                  <a:srgbClr val="3ED7FF"/>
                </a:solidFill>
              </a:rPr>
              <a:t>EJEMPLO DE REGISTRO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103E74-4250-4E1F-B41A-295793210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52750"/>
            <a:ext cx="4000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9FF"/>
                </a:solidFill>
              </a:defRPr>
            </a:pPr>
            <a:r>
              <a:rPr sz="1500" b="0">
                <a:solidFill>
                  <a:srgbClr val="F4F9FF"/>
                </a:solidFill>
              </a:rPr>
              <a:t>2026-08-23T22:31:14.085-06:00</a:t>
            </a:r>
          </a:p>
          <a:p xmlns:a="http://schemas.openxmlformats.org/drawingml/2006/main">
            <a:pPr algn="l">
              <a:defRPr sz="1500" b="0">
                <a:solidFill>
                  <a:srgbClr val="F4F9FF"/>
                </a:solidFill>
              </a:defRPr>
            </a:pPr>
            <a:r>
              <a:rPr sz="1500" b="0">
                <a:solidFill>
                  <a:srgbClr val="F4F9FF"/>
                </a:solidFill>
              </a:rPr>
              <a:t>[PRESS] · evento_002</a:t>
            </a:r>
          </a:p>
          <a:p xmlns:a="http://schemas.openxmlformats.org/drawingml/2006/main">
            <a:pPr algn="l">
              <a:defRPr sz="1500" b="0">
                <a:solidFill>
                  <a:srgbClr val="F4F9FF"/>
                </a:solidFill>
              </a:defRPr>
            </a:pPr>
            <a:r>
              <a:rPr sz="1500" b="0">
                <a:solidFill>
                  <a:srgbClr val="F4F9FF"/>
                </a:solidFill>
              </a:rPr>
              <a:t>tecla=Key.shift · delta_ms=3992</a:t>
            </a:r>
          </a:p>
        </p:txBody>
      </p:sp>
    </p:spTree>
    <p:extLst>
      <p:ext uri="{BB962C8B-B14F-4D97-AF65-F5344CB8AC3E}">
        <p14:creationId xmlns:p14="http://schemas.microsoft.com/office/powerpoint/2010/main" val="15987601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3CB697-82EB-4FBF-90DF-CE59A6252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26A112-3D00-439F-B4EB-470F88BD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18E6F9-D7B8-4FCD-AC76-1ACAFE32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ED7FF"/>
                </a:solidFill>
              </a:defRPr>
            </a:pPr>
            <a:r>
              <a:rPr sz="1050" b="1">
                <a:solidFill>
                  <a:srgbClr val="3ED7FF"/>
                </a:solidFill>
              </a:rPr>
              <a:t>ACTIVIDAD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6DC534-D491-46E8-9F09-0B6121A2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C3D6"/>
                </a:solidFill>
              </a:defRPr>
            </a:pPr>
            <a:r>
              <a:rPr sz="1050" b="1">
                <a:solidFill>
                  <a:srgbClr val="A9C3D6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C03898-2570-4DE2-BE63-F2160F48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C3D6"/>
                </a:solidFill>
              </a:defRPr>
            </a:pPr>
            <a:r>
              <a:rPr sz="975" b="0">
                <a:solidFill>
                  <a:srgbClr val="A9C3D6"/>
                </a:solidFill>
              </a:rPr>
              <a:t>Juan Francisco Ortega Jiménez · Fundamentos de Ciberseguridad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086873-0D55-4D80-B68C-DB4DDCDF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9FF"/>
                </a:solidFill>
              </a:defRPr>
            </a:pPr>
            <a:r>
              <a:rPr sz="2850" b="1">
                <a:solidFill>
                  <a:srgbClr val="F4F9FF"/>
                </a:solidFill>
              </a:rPr>
              <a:t>Tres datos temporales permiten reconstruir qué ocurrió y en qué orden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2C280D-1CB6-42FE-AB58-1D4238B5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3333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D43"/>
          </a:solidFill>
          <a:ln xmlns:a="http://schemas.openxmlformats.org/drawingml/2006/main" w="19050">
            <a:solidFill>
              <a:srgbClr val="3ED7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7152D1-A9AA-4CDD-A79A-AA0D63C3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ED7FF"/>
                </a:solidFill>
              </a:defRPr>
            </a:pPr>
            <a:r>
              <a:rPr sz="1200" b="1">
                <a:solidFill>
                  <a:srgbClr val="3ED7FF"/>
                </a:solidFill>
              </a:rPr>
              <a:t>MOMENTO EXACTO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61681F-F547-4528-A4FD-536ED3E27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295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4F9FF"/>
                </a:solidFill>
              </a:defRPr>
            </a:pPr>
            <a:r>
              <a:rPr sz="1950" b="1">
                <a:solidFill>
                  <a:srgbClr val="F4F9FF"/>
                </a:solidFill>
              </a:rPr>
              <a:t>ISO 8601</a:t>
            </a:r>
          </a:p>
          <a:p xmlns:a="http://schemas.openxmlformats.org/drawingml/2006/main">
            <a:pPr algn="l">
              <a:defRPr sz="1950" b="1">
                <a:solidFill>
                  <a:srgbClr val="F4F9FF"/>
                </a:solidFill>
              </a:defRPr>
            </a:pPr>
            <a:r>
              <a:rPr sz="1950" b="1">
                <a:solidFill>
                  <a:srgbClr val="F4F9FF"/>
                </a:solidFill>
              </a:rPr>
              <a:t>con milisegundos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B36F8C-68E2-426A-8F55-EF42FB89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09800"/>
            <a:ext cx="3333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D43"/>
          </a:solidFill>
          <a:ln xmlns:a="http://schemas.openxmlformats.org/drawingml/2006/main" w="19050">
            <a:solidFill>
              <a:srgbClr val="FFC5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9180B5-5CBD-43AB-A13D-A00B9B8A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4003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C53D"/>
                </a:solidFill>
              </a:defRPr>
            </a:pPr>
            <a:r>
              <a:rPr sz="1200" b="1">
                <a:solidFill>
                  <a:srgbClr val="FFC53D"/>
                </a:solidFill>
              </a:rPr>
              <a:t>ORDEN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41BCF5-C7CE-4209-BD1A-F1707C2C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762250"/>
            <a:ext cx="295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4F9FF"/>
                </a:solidFill>
              </a:defRPr>
            </a:pPr>
            <a:r>
              <a:rPr sz="1950" b="1">
                <a:solidFill>
                  <a:srgbClr val="F4F9FF"/>
                </a:solidFill>
              </a:rPr>
              <a:t>evento_001</a:t>
            </a:r>
          </a:p>
          <a:p xmlns:a="http://schemas.openxmlformats.org/drawingml/2006/main">
            <a:pPr algn="l">
              <a:defRPr sz="1950" b="1">
                <a:solidFill>
                  <a:srgbClr val="F4F9FF"/>
                </a:solidFill>
              </a:defRPr>
            </a:pPr>
            <a:r>
              <a:rPr sz="1950" b="1">
                <a:solidFill>
                  <a:srgbClr val="F4F9FF"/>
                </a:solidFill>
              </a:rPr>
              <a:t>evento_002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1A2741-E137-4BD7-B21E-5912524E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09800"/>
            <a:ext cx="3333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D43"/>
          </a:solidFill>
          <a:ln xmlns:a="http://schemas.openxmlformats.org/drawingml/2006/main" w="19050">
            <a:solidFill>
              <a:srgbClr val="49E1A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839BD6-BCB5-4AF9-9A76-33344E99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003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9E1A1"/>
                </a:solidFill>
              </a:defRPr>
            </a:pPr>
            <a:r>
              <a:rPr sz="1200" b="1">
                <a:solidFill>
                  <a:srgbClr val="49E1A1"/>
                </a:solidFill>
              </a:rPr>
              <a:t>INTERVALO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DD3B25-3BF0-4937-ACE0-272BC4FA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62250"/>
            <a:ext cx="295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4F9FF"/>
                </a:solidFill>
              </a:defRPr>
            </a:pPr>
            <a:r>
              <a:rPr sz="1950" b="1">
                <a:solidFill>
                  <a:srgbClr val="F4F9FF"/>
                </a:solidFill>
              </a:rPr>
              <a:t>delta_ms</a:t>
            </a:r>
          </a:p>
          <a:p xmlns:a="http://schemas.openxmlformats.org/drawingml/2006/main">
            <a:pPr algn="l">
              <a:defRPr sz="1950" b="1">
                <a:solidFill>
                  <a:srgbClr val="F4F9FF"/>
                </a:solidFill>
              </a:defRPr>
            </a:pPr>
            <a:r>
              <a:rPr sz="1950" b="1">
                <a:solidFill>
                  <a:srgbClr val="F4F9FF"/>
                </a:solidFill>
              </a:rPr>
              <a:t>entre eventos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BA3B9A-ECC4-4C6F-9D95-940DB404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81500"/>
            <a:ext cx="895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F4F9FF"/>
                </a:solidFill>
              </a:defRPr>
            </a:pPr>
            <a:r>
              <a:rPr sz="1875" b="0">
                <a:solidFill>
                  <a:srgbClr val="F4F9FF"/>
                </a:solidFill>
              </a:rPr>
              <a:t>La zona horaria -06:00 evita ambigüedad y facilita comparar Windows con Kali.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06AA75-81C0-4BB2-9172-697F5D9C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00650"/>
            <a:ext cx="9982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3101A"/>
          </a:solidFill>
          <a:ln xmlns:a="http://schemas.openxmlformats.org/drawingml/2006/main" w="9525">
            <a:solidFill>
              <a:srgbClr val="28516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332311-898E-4DC7-BCD0-1B614A99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391150"/>
            <a:ext cx="956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F7FF"/>
                </a:solidFill>
              </a:defRPr>
            </a:pPr>
            <a:r>
              <a:rPr sz="1275" b="0">
                <a:solidFill>
                  <a:srgbClr val="DDF7FF"/>
                </a:solidFill>
              </a:rPr>
              <a:t>2026-08-23T22:31:14.096-06:00 | [PRESS] | evento_003 | tecla=Key.cmd | delta_ms=10</a:t>
            </a:r>
          </a:p>
        </p:txBody>
      </p:sp>
    </p:spTree>
    <p:extLst>
      <p:ext uri="{BB962C8B-B14F-4D97-AF65-F5344CB8AC3E}">
        <p14:creationId xmlns:p14="http://schemas.microsoft.com/office/powerpoint/2010/main" val="6805414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E05AAD-DA58-4159-A994-23A55094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55D80E-5EC7-43DF-A8A6-54882D4CF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F6CEEA-9736-428C-900B-A4688DB24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ED7FF"/>
                </a:solidFill>
              </a:defRPr>
            </a:pPr>
            <a:r>
              <a:rPr sz="1050" b="1">
                <a:solidFill>
                  <a:srgbClr val="3ED7FF"/>
                </a:solidFill>
              </a:rPr>
              <a:t>ACTIVIDAD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068984-2A69-4630-B9AF-DAE8AFA2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C3D6"/>
                </a:solidFill>
              </a:defRPr>
            </a:pPr>
            <a:r>
              <a:rPr sz="1050" b="1">
                <a:solidFill>
                  <a:srgbClr val="A9C3D6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7529ED-2BE0-425B-8C5A-C36070E37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C3D6"/>
                </a:solidFill>
              </a:defRPr>
            </a:pPr>
            <a:r>
              <a:rPr sz="975" b="0">
                <a:solidFill>
                  <a:srgbClr val="A9C3D6"/>
                </a:solidFill>
              </a:rPr>
              <a:t>Juan Francisco Ortega Jiménez · Fundamentos de Ciberseguridad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218D94-5C71-46A1-9B23-62B1CB79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9FF"/>
                </a:solidFill>
              </a:defRPr>
            </a:pPr>
            <a:r>
              <a:rPr sz="2850" b="1">
                <a:solidFill>
                  <a:srgbClr val="F4F9FF"/>
                </a:solidFill>
              </a:rPr>
              <a:t>Los callbacks distinguen presión, liberación y cierre controlado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95ED50-7132-4643-859B-DBF55F08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695950" cy="32766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03101A"/>
          </a:solidFill>
          <a:ln xmlns:a="http://schemas.openxmlformats.org/drawingml/2006/main" w="9525">
            <a:solidFill>
              <a:srgbClr val="28516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F79F27-7FCF-41B0-9657-CFCF16F48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5276850" cy="289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DF7FF"/>
                </a:solidFill>
              </a:defRPr>
            </a:pPr>
            <a:r>
              <a:rPr sz="1500" b="0">
                <a:solidFill>
                  <a:srgbClr val="DDF7FF"/>
                </a:solidFill>
              </a:rPr>
              <a:t>def on_press(key):</a:t>
            </a:r>
          </a:p>
          <a:p xmlns:a="http://schemas.openxmlformats.org/drawingml/2006/main">
            <a:pPr algn="l">
              <a:defRPr sz="1500" b="0">
                <a:solidFill>
                  <a:srgbClr val="DDF7FF"/>
                </a:solidFill>
              </a:defRPr>
            </a:pPr>
            <a:r>
              <a:rPr sz="1500" b="0">
                <a:solidFill>
                  <a:srgbClr val="DDF7FF"/>
                </a:solidFill>
              </a:rPr>
              <a:t>    guardar_evento("PRESS", key)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DDF7FF"/>
                </a:solidFill>
              </a:defRPr>
            </a:pPr>
            <a:r>
              <a:rPr sz="1500" b="0">
                <a:solidFill>
                  <a:srgbClr val="DDF7FF"/>
                </a:solidFill>
              </a:rPr>
              <a:t>def on_release(key):</a:t>
            </a:r>
          </a:p>
          <a:p xmlns:a="http://schemas.openxmlformats.org/drawingml/2006/main">
            <a:pPr algn="l">
              <a:defRPr sz="1500" b="0">
                <a:solidFill>
                  <a:srgbClr val="DDF7FF"/>
                </a:solidFill>
              </a:defRPr>
            </a:pPr>
            <a:r>
              <a:rPr sz="1500" b="0">
                <a:solidFill>
                  <a:srgbClr val="DDF7FF"/>
                </a:solidFill>
              </a:rPr>
              <a:t>    guardar_evento("RELEASE", key)</a:t>
            </a:r>
          </a:p>
          <a:p xmlns:a="http://schemas.openxmlformats.org/drawingml/2006/main">
            <a:pPr algn="l">
              <a:defRPr sz="1500" b="0">
                <a:solidFill>
                  <a:srgbClr val="DDF7FF"/>
                </a:solidFill>
              </a:defRPr>
            </a:pPr>
            <a:r>
              <a:rPr sz="1500" b="0">
                <a:solidFill>
                  <a:srgbClr val="DDF7FF"/>
                </a:solidFill>
              </a:rPr>
              <a:t>    if key == Key.esc:</a:t>
            </a:r>
          </a:p>
          <a:p xmlns:a="http://schemas.openxmlformats.org/drawingml/2006/main">
            <a:pPr algn="l">
              <a:defRPr sz="1500" b="0">
                <a:solidFill>
                  <a:srgbClr val="DDF7FF"/>
                </a:solidFill>
              </a:defRPr>
            </a:pPr>
            <a:r>
              <a:rPr sz="1500" b="0">
                <a:solidFill>
                  <a:srgbClr val="DDF7FF"/>
                </a:solidFill>
              </a:rPr>
              <a:t>        return False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DF92B1-24B6-4CFD-8CE3-5EF201F2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669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C53D"/>
                </a:solidFill>
              </a:defRPr>
            </a:pPr>
            <a:r>
              <a:rPr sz="2100" b="1">
                <a:solidFill>
                  <a:srgbClr val="FFC53D"/>
                </a:solidFill>
              </a:rPr>
              <a:t>PRESS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220675-389D-4A9A-B83F-1C2E45E3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70510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9C3D6"/>
                </a:solidFill>
              </a:defRPr>
            </a:pPr>
            <a:r>
              <a:rPr sz="1575" b="0">
                <a:solidFill>
                  <a:srgbClr val="A9C3D6"/>
                </a:solidFill>
              </a:rPr>
              <a:t>Se genera cuando una tecla es presionada.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057159-A256-489A-AB2A-64BC47D3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4861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ED7FF"/>
                </a:solidFill>
              </a:defRPr>
            </a:pPr>
            <a:r>
              <a:rPr sz="2100" b="1">
                <a:solidFill>
                  <a:srgbClr val="3ED7FF"/>
                </a:solidFill>
              </a:rPr>
              <a:t>RELEASE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C128E7-4A9C-4278-9A32-AE722510E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9243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9C3D6"/>
                </a:solidFill>
              </a:defRPr>
            </a:pPr>
            <a:r>
              <a:rPr sz="1575" b="0">
                <a:solidFill>
                  <a:srgbClr val="A9C3D6"/>
                </a:solidFill>
              </a:rPr>
              <a:t>Se genera cuando la tecla deja de estar presionada.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B51439-4E2C-4638-842A-339BF372A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78155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B75"/>
                </a:solidFill>
              </a:defRPr>
            </a:pPr>
            <a:r>
              <a:rPr sz="2100" b="1">
                <a:solidFill>
                  <a:srgbClr val="FF6B75"/>
                </a:solidFill>
              </a:rPr>
              <a:t>ESC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490339-62AB-470B-A7F2-F602AA9D2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10125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9C3D6"/>
                </a:solidFill>
              </a:defRPr>
            </a:pPr>
            <a:r>
              <a:rPr sz="1575" b="0">
                <a:solidFill>
                  <a:srgbClr val="A9C3D6"/>
                </a:solidFill>
              </a:rPr>
              <a:t>Devuelve False y finaliza el listener.</a:t>
            </a:r>
          </a:p>
        </p:txBody>
      </p:sp>
    </p:spTree>
    <p:extLst>
      <p:ext uri="{BB962C8B-B14F-4D97-AF65-F5344CB8AC3E}">
        <p14:creationId xmlns:p14="http://schemas.microsoft.com/office/powerpoint/2010/main" val="147757423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2DDEFD-EEB4-4499-B10B-6379883F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FA26F0-B5A0-48A8-9A3E-F1392D7D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02730D-738B-498D-8EFC-25B97C12B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ED7FF"/>
                </a:solidFill>
              </a:defRPr>
            </a:pPr>
            <a:r>
              <a:rPr sz="1050" b="1">
                <a:solidFill>
                  <a:srgbClr val="3ED7FF"/>
                </a:solidFill>
              </a:rPr>
              <a:t>EVIDENCIA DE RED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8B3F81-8772-4740-AFCF-4C3B7AB6D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C3D6"/>
                </a:solidFill>
              </a:defRPr>
            </a:pPr>
            <a:r>
              <a:rPr sz="1050" b="1">
                <a:solidFill>
                  <a:srgbClr val="A9C3D6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60971A-29A8-4616-A29D-C0170DC45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C3D6"/>
                </a:solidFill>
              </a:defRPr>
            </a:pPr>
            <a:r>
              <a:rPr sz="975" b="0">
                <a:solidFill>
                  <a:srgbClr val="A9C3D6"/>
                </a:solidFill>
              </a:rPr>
              <a:t>Juan Francisco Ortega Jiménez · Fundamentos de Ciberseguridad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A27139-F2C7-4A94-B077-990C3E5B0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9FF"/>
                </a:solidFill>
              </a:defRPr>
            </a:pPr>
            <a:r>
              <a:rPr sz="2850" b="1">
                <a:solidFill>
                  <a:srgbClr val="F4F9FF"/>
                </a:solidFill>
              </a:rPr>
              <a:t>Windows y Kali se comunicaron mediante una red privada solo-anfitrión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07097D-3DC2-4FDE-9E56-FDC18C45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5219700" cy="33909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091A27"/>
          </a:solidFill>
          <a:ln xmlns:a="http://schemas.openxmlformats.org/drawingml/2006/main" w="9525">
            <a:solidFill>
              <a:srgbClr val="285169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83fbfd0b1e4989"/>
          <a:stretch xmlns:a="http://schemas.openxmlformats.org/drawingml/2006/main"/>
        </p:blipFill>
        <p:spPr>
          <a:xfrm xmlns:a="http://schemas.openxmlformats.org/drawingml/2006/main">
            <a:off x="711676" y="2000250"/>
            <a:ext cx="5015548" cy="3238500"/>
          </a:xfrm>
          <a:prstGeom xmlns:a="http://schemas.openxmlformats.org/drawingml/2006/main" prst="roundRect">
            <a:avLst>
              <a:gd name="adj" fmla="val 3529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410AF1-D8AB-490B-B5EF-47693721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24050"/>
            <a:ext cx="5219700" cy="33909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091A27"/>
          </a:solidFill>
          <a:ln xmlns:a="http://schemas.openxmlformats.org/drawingml/2006/main" w="9525">
            <a:solidFill>
              <a:srgbClr val="285169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a6c933d5d442d9"/>
          <a:stretch xmlns:a="http://schemas.openxmlformats.org/drawingml/2006/main"/>
        </p:blipFill>
        <p:spPr>
          <a:xfrm xmlns:a="http://schemas.openxmlformats.org/drawingml/2006/main">
            <a:off x="6438900" y="2194900"/>
            <a:ext cx="5067300" cy="2849201"/>
          </a:xfrm>
          <a:prstGeom xmlns:a="http://schemas.openxmlformats.org/drawingml/2006/main" prst="roundRect">
            <a:avLst>
              <a:gd name="adj" fmla="val 3529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E61B66-C3B0-41DF-9708-80DE7549A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ED7FF"/>
                </a:solidFill>
              </a:defRPr>
            </a:pPr>
            <a:r>
              <a:rPr sz="1425" b="1">
                <a:solidFill>
                  <a:srgbClr val="3ED7FF"/>
                </a:solidFill>
              </a:rPr>
              <a:t>Kali: eth1 · 192.168.56.102/24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6DC4A5-1E48-4D51-A2DD-A0D0E0C8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4864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49E1A1"/>
                </a:solidFill>
              </a:defRPr>
            </a:pPr>
            <a:r>
              <a:rPr sz="1425" b="1">
                <a:solidFill>
                  <a:srgbClr val="49E1A1"/>
                </a:solidFill>
              </a:rPr>
              <a:t>Windows: 4 enviados · 4 recibidos · 0 % perdidos</a:t>
            </a:r>
          </a:p>
        </p:txBody>
      </p:sp>
    </p:spTree>
    <p:extLst>
      <p:ext uri="{BB962C8B-B14F-4D97-AF65-F5344CB8AC3E}">
        <p14:creationId xmlns:p14="http://schemas.microsoft.com/office/powerpoint/2010/main" val="131858137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1FE5C8-851D-49BF-8A9F-F4F216B3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8607DE-5588-4607-A879-FF2181B4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516BB3-ACF4-4507-9361-809C7FC89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ED7FF"/>
                </a:solidFill>
              </a:defRPr>
            </a:pPr>
            <a:r>
              <a:rPr sz="1050" b="1">
                <a:solidFill>
                  <a:srgbClr val="3ED7FF"/>
                </a:solidFill>
              </a:rPr>
              <a:t>EVIDENCIA DE EJECUCIÓN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F33A79-7DED-487D-A113-0666E7EE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C3D6"/>
                </a:solidFill>
              </a:defRPr>
            </a:pPr>
            <a:r>
              <a:rPr sz="1050" b="1">
                <a:solidFill>
                  <a:srgbClr val="A9C3D6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5A0B7C-DF71-4389-9BB0-360290037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C3D6"/>
                </a:solidFill>
              </a:defRPr>
            </a:pPr>
            <a:r>
              <a:rPr sz="975" b="0">
                <a:solidFill>
                  <a:srgbClr val="A9C3D6"/>
                </a:solidFill>
              </a:rPr>
              <a:t>Juan Francisco Ortega Jiménez · Fundamentos de Ciberseguridad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EE028E-326D-47FA-90D9-FD467CCF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9FF"/>
                </a:solidFill>
              </a:defRPr>
            </a:pPr>
            <a:r>
              <a:rPr sz="2850" b="1">
                <a:solidFill>
                  <a:srgbClr val="F4F9FF"/>
                </a:solidFill>
              </a:rPr>
              <a:t>El receptor quedó a la escucha antes de iniciar el emisor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8C6AC4-A981-48D9-A58B-CEB31765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5219700" cy="354330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091A27"/>
          </a:solidFill>
          <a:ln xmlns:a="http://schemas.openxmlformats.org/drawingml/2006/main" w="9525">
            <a:solidFill>
              <a:srgbClr val="285169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166928210a4adc"/>
          <a:stretch xmlns:a="http://schemas.openxmlformats.org/drawingml/2006/main"/>
        </p:blipFill>
        <p:spPr>
          <a:xfrm xmlns:a="http://schemas.openxmlformats.org/drawingml/2006/main">
            <a:off x="685800" y="2213950"/>
            <a:ext cx="5067300" cy="2849201"/>
          </a:xfrm>
          <a:prstGeom xmlns:a="http://schemas.openxmlformats.org/drawingml/2006/main" prst="roundRect">
            <a:avLst>
              <a:gd name="adj" fmla="val 3371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CCB112-87AB-433B-A8D8-9F74C806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66900"/>
            <a:ext cx="5219700" cy="354330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091A27"/>
          </a:solidFill>
          <a:ln xmlns:a="http://schemas.openxmlformats.org/drawingml/2006/main" w="9525">
            <a:solidFill>
              <a:srgbClr val="285169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eacf6ebc79451d"/>
          <a:stretch xmlns:a="http://schemas.openxmlformats.org/drawingml/2006/main"/>
        </p:blipFill>
        <p:spPr>
          <a:xfrm xmlns:a="http://schemas.openxmlformats.org/drawingml/2006/main">
            <a:off x="6438900" y="2213950"/>
            <a:ext cx="5067300" cy="2849201"/>
          </a:xfrm>
          <a:prstGeom xmlns:a="http://schemas.openxmlformats.org/drawingml/2006/main" prst="roundRect">
            <a:avLst>
              <a:gd name="adj" fmla="val 3371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E22C46-38A7-4348-98C9-200828DC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521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ED7FF"/>
                </a:solidFill>
              </a:defRPr>
            </a:pPr>
            <a:r>
              <a:rPr sz="1350" b="1">
                <a:solidFill>
                  <a:srgbClr val="3ED7FF"/>
                </a:solidFill>
              </a:rPr>
              <a:t>Kali: receptor_kali.py · puerto 5050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120041-4869-4F0C-87CD-C9AA2CDAD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562600"/>
            <a:ext cx="521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C53D"/>
                </a:solidFill>
              </a:defRPr>
            </a:pPr>
            <a:r>
              <a:rPr sz="1350" b="1">
                <a:solidFill>
                  <a:srgbClr val="FFC53D"/>
                </a:solidFill>
              </a:rPr>
              <a:t>Windows: conexión establecida y eventos ENVIADO</a:t>
            </a:r>
          </a:p>
        </p:txBody>
      </p:sp>
    </p:spTree>
    <p:extLst>
      <p:ext uri="{BB962C8B-B14F-4D97-AF65-F5344CB8AC3E}">
        <p14:creationId xmlns:p14="http://schemas.microsoft.com/office/powerpoint/2010/main" val="40545078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63DDD3-703B-47E0-9309-7237DC99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FEE69B-93BC-4D15-9E70-C522F28C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224249-D6F7-4D06-96E6-6A861A10A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ED7FF"/>
                </a:solidFill>
              </a:defRPr>
            </a:pPr>
            <a:r>
              <a:rPr sz="1050" b="1">
                <a:solidFill>
                  <a:srgbClr val="3ED7FF"/>
                </a:solidFill>
              </a:rPr>
              <a:t>EVIDENCIA DEL ARCHIVO LOCAL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F4C643-1851-423C-8194-F5B894844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C3D6"/>
                </a:solidFill>
              </a:defRPr>
            </a:pPr>
            <a:r>
              <a:rPr sz="1050" b="1">
                <a:solidFill>
                  <a:srgbClr val="A9C3D6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FDDC73-BBBD-4400-B13C-15843399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C3D6"/>
                </a:solidFill>
              </a:defRPr>
            </a:pPr>
            <a:r>
              <a:rPr sz="975" b="0">
                <a:solidFill>
                  <a:srgbClr val="A9C3D6"/>
                </a:solidFill>
              </a:rPr>
              <a:t>Juan Francisco Ortega Jiménez · Fundamentos de Ciberseguridad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510496-4442-4CC5-A0FB-36E7B677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9FF"/>
                </a:solidFill>
              </a:defRPr>
            </a:pPr>
            <a:r>
              <a:rPr sz="2850" b="1">
                <a:solidFill>
                  <a:srgbClr val="F4F9FF"/>
                </a:solidFill>
              </a:rPr>
              <a:t>Eventos.txt conservó una secuencia detallada de la ejecución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F0489D-9F97-4AC8-9D2E-ED2AAD25E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6858000" cy="4248150"/>
          </a:xfrm>
          <a:prstGeom xmlns:a="http://schemas.openxmlformats.org/drawingml/2006/main" prst="roundRect">
            <a:avLst>
              <a:gd name="adj" fmla="val 1794"/>
            </a:avLst>
          </a:prstGeom>
          <a:solidFill xmlns:a="http://schemas.openxmlformats.org/drawingml/2006/main">
            <a:srgbClr val="091A27"/>
          </a:solidFill>
          <a:ln xmlns:a="http://schemas.openxmlformats.org/drawingml/2006/main" w="9525">
            <a:solidFill>
              <a:srgbClr val="285169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4857a6b09f4c89"/>
          <a:stretch xmlns:a="http://schemas.openxmlformats.org/drawingml/2006/main"/>
        </p:blipFill>
        <p:spPr>
          <a:xfrm xmlns:a="http://schemas.openxmlformats.org/drawingml/2006/main">
            <a:off x="1887538" y="1866900"/>
            <a:ext cx="4302125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013A4C-62EC-4DCD-B777-46A3317D8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574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ED7FF"/>
                </a:solidFill>
              </a:defRPr>
            </a:pPr>
            <a:r>
              <a:rPr sz="1725" b="1">
                <a:solidFill>
                  <a:srgbClr val="3ED7FF"/>
                </a:solidFill>
              </a:rPr>
              <a:t>La evidencia muestra: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736EBE-7418-4F37-9D95-CB62BBCB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52700"/>
            <a:ext cx="33337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9FF"/>
                </a:solidFill>
              </a:defRPr>
            </a:pPr>
            <a:r>
              <a:rPr sz="1575" b="0">
                <a:solidFill>
                  <a:srgbClr val="F4F9FF"/>
                </a:solidFill>
              </a:rPr>
              <a:t>• Marca ISO 8601 con -06:00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F4F9FF"/>
                </a:solidFill>
              </a:defRPr>
            </a:pPr>
            <a:r>
              <a:rPr sz="1575" b="0">
                <a:solidFill>
                  <a:srgbClr val="F4F9FF"/>
                </a:solidFill>
              </a:rPr>
              <a:t>• Acciones PRESS y RELEASE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F4F9FF"/>
                </a:solidFill>
              </a:defRPr>
            </a:pPr>
            <a:r>
              <a:rPr sz="1575" b="0">
                <a:solidFill>
                  <a:srgbClr val="F4F9FF"/>
                </a:solidFill>
              </a:rPr>
              <a:t>• Identificador consecutivo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F4F9FF"/>
                </a:solidFill>
              </a:defRPr>
            </a:pPr>
            <a:r>
              <a:rPr sz="1575" b="0">
                <a:solidFill>
                  <a:srgbClr val="F4F9FF"/>
                </a:solidFill>
              </a:rPr>
              <a:t>• Tecla normal o especial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F4F9FF"/>
                </a:solidFill>
              </a:defRPr>
            </a:pPr>
            <a:r>
              <a:rPr sz="1575" b="0">
                <a:solidFill>
                  <a:srgbClr val="F4F9FF"/>
                </a:solidFill>
              </a:rPr>
              <a:t>• Intervalo delta_ms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DB0D81-61E5-4633-A7B0-BF399610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4292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9E1A1"/>
                </a:solidFill>
              </a:defRPr>
            </a:pPr>
            <a:r>
              <a:rPr sz="1350" b="1">
                <a:solidFill>
                  <a:srgbClr val="49E1A1"/>
                </a:solidFill>
              </a:rPr>
              <a:t>Los registros permanecieron visibles después de cerrar el programa.</a:t>
            </a:r>
          </a:p>
        </p:txBody>
      </p:sp>
    </p:spTree>
    <p:extLst>
      <p:ext uri="{BB962C8B-B14F-4D97-AF65-F5344CB8AC3E}">
        <p14:creationId xmlns:p14="http://schemas.microsoft.com/office/powerpoint/2010/main" val="187123544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47509E-FD16-4363-AC99-2720E0F5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3EA8B4-42E5-49AF-AD3F-30084BFC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09F66E-3E50-4081-B2F9-5CE6C5C2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ED7FF"/>
                </a:solidFill>
              </a:defRPr>
            </a:pPr>
            <a:r>
              <a:rPr sz="1050" b="1">
                <a:solidFill>
                  <a:srgbClr val="3ED7FF"/>
                </a:solidFill>
              </a:rPr>
              <a:t>EVIDENCIA DEL CIERRE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6BFB96-A41D-4C93-BF69-2E5DB849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C3D6"/>
                </a:solidFill>
              </a:defRPr>
            </a:pPr>
            <a:r>
              <a:rPr sz="1050" b="1">
                <a:solidFill>
                  <a:srgbClr val="A9C3D6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238F88-4624-4EAA-A6E4-03AFFBA26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C3D6"/>
                </a:solidFill>
              </a:defRPr>
            </a:pPr>
            <a:r>
              <a:rPr sz="975" b="0">
                <a:solidFill>
                  <a:srgbClr val="A9C3D6"/>
                </a:solidFill>
              </a:rPr>
              <a:t>Juan Francisco Ortega Jiménez · Fundamentos de Ciberseguridad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1A4E80-FD40-4479-982A-84D9F8EC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9FF"/>
                </a:solidFill>
              </a:defRPr>
            </a:pPr>
            <a:r>
              <a:rPr sz="2850" b="1">
                <a:solidFill>
                  <a:srgbClr val="F4F9FF"/>
                </a:solidFill>
              </a:rPr>
              <a:t>Esc quedó registrado como el evento final de la prueba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27D5CB-6B9A-4808-BB60-4615ADD8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6858000" cy="4248150"/>
          </a:xfrm>
          <a:prstGeom xmlns:a="http://schemas.openxmlformats.org/drawingml/2006/main" prst="roundRect">
            <a:avLst>
              <a:gd name="adj" fmla="val 1794"/>
            </a:avLst>
          </a:prstGeom>
          <a:solidFill xmlns:a="http://schemas.openxmlformats.org/drawingml/2006/main">
            <a:srgbClr val="091A27"/>
          </a:solidFill>
          <a:ln xmlns:a="http://schemas.openxmlformats.org/drawingml/2006/main" w="9525">
            <a:solidFill>
              <a:srgbClr val="285169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9e6ef98332471e"/>
          <a:stretch xmlns:a="http://schemas.openxmlformats.org/drawingml/2006/main"/>
        </p:blipFill>
        <p:spPr>
          <a:xfrm xmlns:a="http://schemas.openxmlformats.org/drawingml/2006/main">
            <a:off x="1885451" y="1866900"/>
            <a:ext cx="4306298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B2F059-F4F0-40F9-88ED-0A55771A0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57400"/>
            <a:ext cx="3333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02D43"/>
          </a:solidFill>
          <a:ln xmlns:a="http://schemas.openxmlformats.org/drawingml/2006/main" w="19050">
            <a:solidFill>
              <a:srgbClr val="FF6B7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02D4F9-81B9-4901-9799-35C3007C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812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6B75"/>
                </a:solidFill>
              </a:defRPr>
            </a:pPr>
            <a:r>
              <a:rPr sz="1350" b="1">
                <a:solidFill>
                  <a:srgbClr val="FF6B75"/>
                </a:solidFill>
              </a:rPr>
              <a:t>EVENTO FINAL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AF6779-99F4-430C-B57A-B25F2257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765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4F9FF"/>
                </a:solidFill>
              </a:defRPr>
            </a:pPr>
            <a:r>
              <a:rPr sz="2325" b="1">
                <a:solidFill>
                  <a:srgbClr val="F4F9FF"/>
                </a:solidFill>
              </a:rPr>
              <a:t>evento_081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87E34D-50C7-4432-8F08-92DF4022C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86150"/>
            <a:ext cx="285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3ED7FF"/>
                </a:solidFill>
              </a:defRPr>
            </a:pPr>
            <a:r>
              <a:rPr sz="1575" b="0">
                <a:solidFill>
                  <a:srgbClr val="3ED7FF"/>
                </a:solidFill>
              </a:rPr>
              <a:t>[RELEASE]</a:t>
            </a:r>
          </a:p>
          <a:p xmlns:a="http://schemas.openxmlformats.org/drawingml/2006/main">
            <a:pPr algn="ctr">
              <a:defRPr sz="1575" b="0">
                <a:solidFill>
                  <a:srgbClr val="3ED7FF"/>
                </a:solidFill>
              </a:defRPr>
            </a:pPr>
            <a:r>
              <a:rPr sz="1575" b="0">
                <a:solidFill>
                  <a:srgbClr val="3ED7FF"/>
                </a:solidFill>
              </a:rPr>
              <a:t>tecla=Key.esc</a:t>
            </a:r>
          </a:p>
          <a:p xmlns:a="http://schemas.openxmlformats.org/drawingml/2006/main">
            <a:pPr algn="ctr">
              <a:defRPr sz="1575" b="0">
                <a:solidFill>
                  <a:srgbClr val="3ED7FF"/>
                </a:solidFill>
              </a:defRPr>
            </a:pPr>
            <a:r>
              <a:rPr sz="1575" b="0">
                <a:solidFill>
                  <a:srgbClr val="3ED7FF"/>
                </a:solidFill>
              </a:rPr>
              <a:t>delta_ms=60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EA5C0C-A820-49DF-9D2C-56ED5078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933950"/>
            <a:ext cx="323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9C3D6"/>
                </a:solidFill>
              </a:defRPr>
            </a:pPr>
            <a:r>
              <a:rPr sz="1500" b="0">
                <a:solidFill>
                  <a:srgbClr val="A9C3D6"/>
                </a:solidFill>
              </a:rPr>
              <a:t>La numeración continua confirma que el archivo mantuvo el orden hasta el cierre.</a:t>
            </a:r>
          </a:p>
        </p:txBody>
      </p:sp>
    </p:spTree>
    <p:extLst>
      <p:ext uri="{BB962C8B-B14F-4D97-AF65-F5344CB8AC3E}">
        <p14:creationId xmlns:p14="http://schemas.microsoft.com/office/powerpoint/2010/main" val="133615872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63D8CD-51E8-44F5-9A80-0D8ACEC5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22E3B8-DAD6-4C7F-B7F7-C2EACDD1E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DFB0D2-8B95-4303-8453-0EB66111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ED7FF"/>
                </a:solidFill>
              </a:defRPr>
            </a:pPr>
            <a:r>
              <a:rPr sz="1050" b="1">
                <a:solidFill>
                  <a:srgbClr val="3ED7FF"/>
                </a:solidFill>
              </a:rPr>
              <a:t>ACTIVIDAD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0557BA-80FE-4802-927F-759DF5516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C3D6"/>
                </a:solidFill>
              </a:defRPr>
            </a:pPr>
            <a:r>
              <a:rPr sz="1050" b="1">
                <a:solidFill>
                  <a:srgbClr val="A9C3D6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AF38D2-1F91-4223-82AB-C9DB886C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C3D6"/>
                </a:solidFill>
              </a:defRPr>
            </a:pPr>
            <a:r>
              <a:rPr sz="975" b="0">
                <a:solidFill>
                  <a:srgbClr val="A9C3D6"/>
                </a:solidFill>
              </a:rPr>
              <a:t>Juan Francisco Ortega Jiménez · Fundamentos de Ciberseguridad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60F91B-D06B-49AF-8055-130D4970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9FF"/>
                </a:solidFill>
              </a:defRPr>
            </a:pPr>
            <a:r>
              <a:rPr sz="2850" b="1">
                <a:solidFill>
                  <a:srgbClr val="F4F9FF"/>
                </a:solidFill>
              </a:rPr>
              <a:t>La evidencia cubre los criterios técnicos y documentales de la rúbrica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429D56-6921-4A23-93D1-99F5D969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9FF"/>
                </a:solidFill>
              </a:defRPr>
            </a:pPr>
            <a:r>
              <a:rPr sz="1500" b="1">
                <a:solidFill>
                  <a:srgbClr val="F4F9FF"/>
                </a:solidFill>
              </a:rPr>
              <a:t>Persistencia local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ED9B20-2B5E-43A1-8C05-27809BE9F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955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C3D6"/>
                </a:solidFill>
              </a:defRPr>
            </a:pPr>
            <a:r>
              <a:rPr sz="1425" b="0">
                <a:solidFill>
                  <a:srgbClr val="A9C3D6"/>
                </a:solidFill>
              </a:rPr>
              <a:t>Eventos.txt conservó los registros después del cierre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048718-2604-4123-BBA2-20DEB1606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57400"/>
            <a:ext cx="49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9E1A1"/>
                </a:solidFill>
              </a:defRPr>
            </a:pPr>
            <a:r>
              <a:rPr sz="2250" b="1">
                <a:solidFill>
                  <a:srgbClr val="49E1A1"/>
                </a:solidFill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36FEF3-063C-4B93-BB10-156CFE2E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1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5ABBC6-1B7E-4ACA-9DDE-D625C035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9FF"/>
                </a:solidFill>
              </a:defRPr>
            </a:pPr>
            <a:r>
              <a:rPr sz="1500" b="1">
                <a:solidFill>
                  <a:srgbClr val="F4F9FF"/>
                </a:solidFill>
              </a:rPr>
              <a:t>Asociación temporal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EA4C2A-DB27-4210-B650-3704C0A0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8575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C3D6"/>
                </a:solidFill>
              </a:defRPr>
            </a:pPr>
            <a:r>
              <a:rPr sz="1425" b="0">
                <a:solidFill>
                  <a:srgbClr val="A9C3D6"/>
                </a:solidFill>
              </a:rPr>
              <a:t>Fecha, consecutivo y delta_ms aparecieron en cada evento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40813C-4F94-4D58-B9A2-9DB53E31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19400"/>
            <a:ext cx="49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9E1A1"/>
                </a:solidFill>
              </a:defRPr>
            </a:pPr>
            <a:r>
              <a:rPr sz="2250" b="1">
                <a:solidFill>
                  <a:srgbClr val="49E1A1"/>
                </a:solidFill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EDC4AF-8C55-4CF0-BE36-E265D5E1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1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E31EC8-877B-4C1F-B3DE-A5F1BA364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9FF"/>
                </a:solidFill>
              </a:defRPr>
            </a:pPr>
            <a:r>
              <a:rPr sz="1500" b="1">
                <a:solidFill>
                  <a:srgbClr val="F4F9FF"/>
                </a:solidFill>
              </a:rPr>
              <a:t>Envío de información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2398F0-F2A3-4D4F-B677-148B23CC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6195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C3D6"/>
                </a:solidFill>
              </a:defRPr>
            </a:pPr>
            <a:r>
              <a:rPr sz="1425" b="0">
                <a:solidFill>
                  <a:srgbClr val="A9C3D6"/>
                </a:solidFill>
              </a:rPr>
              <a:t>Ping correcto, receptor activo y eventos con estado ENVIADO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293134-96CC-4B5E-B7BC-6711657C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581400"/>
            <a:ext cx="49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9E1A1"/>
                </a:solidFill>
              </a:defRPr>
            </a:pPr>
            <a:r>
              <a:rPr sz="2250" b="1">
                <a:solidFill>
                  <a:srgbClr val="49E1A1"/>
                </a:solidFill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181E31-94B1-41BC-8D8A-088E1AEC5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1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A36883-205C-45CC-864A-07B6EFBE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9FF"/>
                </a:solidFill>
              </a:defRPr>
            </a:pPr>
            <a:r>
              <a:rPr sz="1500" b="1">
                <a:solidFill>
                  <a:srgbClr val="F4F9FF"/>
                </a:solidFill>
              </a:rPr>
              <a:t>Informe y evidencias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1C7760-24E4-4E47-B848-10FF740E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3815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C3D6"/>
                </a:solidFill>
              </a:defRPr>
            </a:pPr>
            <a:r>
              <a:rPr sz="1425" b="0">
                <a:solidFill>
                  <a:srgbClr val="A9C3D6"/>
                </a:solidFill>
              </a:rPr>
              <a:t>Código, funcionamiento, pruebas y capturas documentados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75C583-4379-4502-ACE4-16D4D223A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343400"/>
            <a:ext cx="49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9E1A1"/>
                </a:solidFill>
              </a:defRPr>
            </a:pPr>
            <a:r>
              <a:rPr sz="2250" b="1">
                <a:solidFill>
                  <a:srgbClr val="49E1A1"/>
                </a:solidFill>
              </a:rPr>
              <a:t>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7F3CEF-2CF0-4E3A-B0C2-F6542BA3A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1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3AB994-ADCC-41AA-A2E4-C261B673C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9FF"/>
                </a:solidFill>
              </a:defRPr>
            </a:pPr>
            <a:r>
              <a:rPr sz="1500" b="1">
                <a:solidFill>
                  <a:srgbClr val="F4F9FF"/>
                </a:solidFill>
              </a:rPr>
              <a:t>Portafolio digital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16B069-CA12-40DA-8C91-587C9A0A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1435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9C3D6"/>
                </a:solidFill>
              </a:defRPr>
            </a:pPr>
            <a:r>
              <a:rPr sz="1425" b="0">
                <a:solidFill>
                  <a:srgbClr val="A9C3D6"/>
                </a:solidFill>
              </a:rPr>
              <a:t>Publicar HTML, código y presentación con enlaces funcionales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ADA0D9-4D44-4B30-9B91-F05527E0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105400"/>
            <a:ext cx="49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C53D"/>
                </a:solidFill>
              </a:defRPr>
            </a:pPr>
            <a:r>
              <a:rPr sz="2250" b="1">
                <a:solidFill>
                  <a:srgbClr val="FFC53D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7D3F6A-5F03-4668-82C8-FE43A5AA4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169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2853355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AC7721-EFBF-4DDC-AA01-5EEA95AC8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B259B0-1AEA-4944-A292-FE748C41B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9E83C0-EBA8-4858-98AB-BA198898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ED7FF"/>
                </a:solidFill>
              </a:defRPr>
            </a:pPr>
            <a:r>
              <a:rPr sz="1050" b="1">
                <a:solidFill>
                  <a:srgbClr val="3ED7FF"/>
                </a:solidFill>
              </a:rPr>
              <a:t>ACTIVIDAD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4D8E1A-D378-4D7B-86A7-67BB0649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C3D6"/>
                </a:solidFill>
              </a:defRPr>
            </a:pPr>
            <a:r>
              <a:rPr sz="1050" b="1">
                <a:solidFill>
                  <a:srgbClr val="A9C3D6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044930-5CDA-4D6B-A81A-80B6FF7F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C3D6"/>
                </a:solidFill>
              </a:defRPr>
            </a:pPr>
            <a:r>
              <a:rPr sz="975" b="0">
                <a:solidFill>
                  <a:srgbClr val="A9C3D6"/>
                </a:solidFill>
              </a:rPr>
              <a:t>Juan Francisco Ortega Jiménez · Fundamentos de Ciberseguridad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BA0A90-4D5E-4B00-80A9-3B84A0DF2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9FF"/>
                </a:solidFill>
              </a:defRPr>
            </a:pPr>
            <a:r>
              <a:rPr sz="2850" b="1">
                <a:solidFill>
                  <a:srgbClr val="F4F9FF"/>
                </a:solidFill>
              </a:rPr>
              <a:t>La técnica solo es válida con autorización y controles de laboratorio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73181D-187F-46A4-9826-1F82F0F4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574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ED7FF"/>
                </a:solidFill>
              </a:defRPr>
            </a:pPr>
            <a:r>
              <a:rPr sz="1350" b="1">
                <a:solidFill>
                  <a:srgbClr val="3ED7FF"/>
                </a:solidFill>
              </a:rPr>
              <a:t>ALCANCE APLICADO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9DF8BF-8BAF-4F31-9B22-547C2CE45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95550"/>
            <a:ext cx="476250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4F9FF"/>
                </a:solidFill>
              </a:defRPr>
            </a:pPr>
            <a:r>
              <a:rPr sz="1725" b="0">
                <a:solidFill>
                  <a:srgbClr val="F4F9FF"/>
                </a:solidFill>
              </a:rPr>
              <a:t>• Equipos propios y red aislada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F4F9FF"/>
                </a:solidFill>
              </a:defRPr>
            </a:pPr>
            <a:r>
              <a:rPr sz="1725" b="0">
                <a:solidFill>
                  <a:srgbClr val="F4F9FF"/>
                </a:solidFill>
              </a:rPr>
              <a:t>• Ejecución visible y confirmación manual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F4F9FF"/>
                </a:solidFill>
              </a:defRPr>
            </a:pPr>
            <a:r>
              <a:rPr sz="1725" b="0">
                <a:solidFill>
                  <a:srgbClr val="F4F9FF"/>
                </a:solidFill>
              </a:rPr>
              <a:t>• Frase de prueba sin contraseñas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F4F9FF"/>
                </a:solidFill>
              </a:defRPr>
            </a:pPr>
            <a:r>
              <a:rPr sz="1725" b="0">
                <a:solidFill>
                  <a:srgbClr val="F4F9FF"/>
                </a:solidFill>
              </a:rPr>
              <a:t>• Esc como cierre inmediato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8B5A16-9803-47A8-A3E9-2EE732D6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476250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102D43"/>
          </a:solidFill>
          <a:ln xmlns:a="http://schemas.openxmlformats.org/drawingml/2006/main" w="19050">
            <a:solidFill>
              <a:srgbClr val="FFC5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D3F0B3-A867-418A-8D94-1145865E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241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C53D"/>
                </a:solidFill>
              </a:defRPr>
            </a:pPr>
            <a:r>
              <a:rPr sz="1425" b="1">
                <a:solidFill>
                  <a:srgbClr val="FFC53D"/>
                </a:solidFill>
              </a:rPr>
              <a:t>RIESGOS QUE SE DEBEN CONTROLAR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D0459A-9041-4F62-84AB-3C333B47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14650"/>
            <a:ext cx="40005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4F9FF"/>
                </a:solidFill>
              </a:defRPr>
            </a:pPr>
            <a:r>
              <a:rPr sz="1725" b="0">
                <a:solidFill>
                  <a:srgbClr val="F4F9FF"/>
                </a:solidFill>
              </a:rPr>
              <a:t>Los eventos de teclado pueden revelar información sensible. En un entorno real serían necesarios cifrado, autenticación, control de acceso y una política limitada de retención.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D72CE6-3213-476B-AFE5-81F6D4BE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7244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ED7FF"/>
                </a:solidFill>
              </a:defRPr>
            </a:pPr>
            <a:r>
              <a:rPr sz="1275" b="1">
                <a:solidFill>
                  <a:srgbClr val="3ED7FF"/>
                </a:solidFill>
              </a:rPr>
              <a:t>La práctica no implementa ocultamiento ni arranque automático.</a:t>
            </a:r>
          </a:p>
        </p:txBody>
      </p:sp>
    </p:spTree>
    <p:extLst>
      <p:ext uri="{BB962C8B-B14F-4D97-AF65-F5344CB8AC3E}">
        <p14:creationId xmlns:p14="http://schemas.microsoft.com/office/powerpoint/2010/main" val="14668708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207E1F-3E80-4251-ACCA-4CE217C62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8D759B-F096-4B11-968F-5814E6995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3F67E9-389E-4127-9993-1B709854C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ED7FF"/>
                </a:solidFill>
              </a:defRPr>
            </a:pPr>
            <a:r>
              <a:rPr sz="1050" b="1">
                <a:solidFill>
                  <a:srgbClr val="3ED7FF"/>
                </a:solidFill>
              </a:rPr>
              <a:t>CONCLUSIONES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962B31-4D65-4D3C-93E9-33D9A3D34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C3D6"/>
                </a:solidFill>
              </a:defRPr>
            </a:pPr>
            <a:r>
              <a:rPr sz="1050" b="1">
                <a:solidFill>
                  <a:srgbClr val="A9C3D6"/>
                </a:solidFill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B7A391-23C0-432E-A1D1-867DC2EF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C3D6"/>
                </a:solidFill>
              </a:defRPr>
            </a:pPr>
            <a:r>
              <a:rPr sz="975" b="0">
                <a:solidFill>
                  <a:srgbClr val="A9C3D6"/>
                </a:solidFill>
              </a:rPr>
              <a:t>Juan Francisco Ortega Jiménez · Fundamentos de Ciberseguridad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DFA034-593B-4BD6-B27B-7984F0DB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9FF"/>
                </a:solidFill>
              </a:defRPr>
            </a:pPr>
            <a:r>
              <a:rPr sz="2850" b="1">
                <a:solidFill>
                  <a:srgbClr val="F4F9FF"/>
                </a:solidFill>
              </a:rPr>
              <a:t>La práctica integró captura, persistencia y telemetría en un solo flujo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A67722-889B-4D78-B930-68050618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70008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9FF"/>
                </a:solidFill>
              </a:defRPr>
            </a:pPr>
            <a:r>
              <a:rPr sz="2025" b="0">
                <a:solidFill>
                  <a:srgbClr val="F4F9FF"/>
                </a:solidFill>
              </a:rPr>
              <a:t>El código base se amplió para registrar eventos PRESS y RELEASE, conservarlos con información temporal y transmitirlos a Kali Linux. La numeración consecutiva y delta_ms facilitaron correlacionar el orden de los eventos.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577118-3FA2-4666-B955-C44571CE6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38350"/>
            <a:ext cx="300990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102D43"/>
          </a:solidFill>
          <a:ln xmlns:a="http://schemas.openxmlformats.org/drawingml/2006/main" w="19050">
            <a:solidFill>
              <a:srgbClr val="3ED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086963-3088-408C-84DF-2094DE0F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2410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ED7FF"/>
                </a:solidFill>
              </a:defRPr>
            </a:pPr>
            <a:r>
              <a:rPr sz="1275" b="1">
                <a:solidFill>
                  <a:srgbClr val="3ED7FF"/>
                </a:solidFill>
              </a:rPr>
              <a:t>RESULTADO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253C7F-674F-4BDE-918A-00F75F4C5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00350"/>
            <a:ext cx="2133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FFC53D"/>
                </a:solidFill>
              </a:defRPr>
            </a:pPr>
            <a:r>
              <a:rPr sz="4800" b="1">
                <a:solidFill>
                  <a:srgbClr val="FFC53D"/>
                </a:solidFill>
              </a:rPr>
              <a:t>3/3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98C083-E94E-458D-8536-C238F6CD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76650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A9C3D6"/>
                </a:solidFill>
              </a:defRPr>
            </a:pPr>
            <a:r>
              <a:rPr sz="1275" b="0">
                <a:solidFill>
                  <a:srgbClr val="A9C3D6"/>
                </a:solidFill>
              </a:rPr>
              <a:t>criterios técnicos implementados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8D50D4-75DD-47EB-B8DE-97C754D91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990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9C3D6"/>
                </a:solidFill>
              </a:defRPr>
            </a:pPr>
            <a:r>
              <a:rPr sz="1800" b="0">
                <a:solidFill>
                  <a:srgbClr val="A9C3D6"/>
                </a:solidFill>
              </a:rPr>
              <a:t>La actividad deberá publicarse junto con el código fuente y esta presentación en la página HTML del portafolio digital.</a:t>
            </a:r>
          </a:p>
        </p:txBody>
      </p:sp>
    </p:spTree>
    <p:extLst>
      <p:ext uri="{BB962C8B-B14F-4D97-AF65-F5344CB8AC3E}">
        <p14:creationId xmlns:p14="http://schemas.microsoft.com/office/powerpoint/2010/main" val="5253380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2026-08-24T05:14:42.3770000Z</dcterms:created>
  <dcterms:modified xsi:type="dcterms:W3CDTF">2026-08-24T05:14:42.3770000Z</dcterms:modified>
</coreProperties>
</file>