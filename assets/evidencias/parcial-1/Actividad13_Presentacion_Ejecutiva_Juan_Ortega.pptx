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del informe ejecutivo. Presentar el objetivo y el carácter confidencial y académico del ejercicio.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servidor es un activo crítico porque custodia archivos. La prueba fue de caja negra, simulando a un atacante con solo acceso a la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fases encadenadas. El valor del enfoque Red Team es pensar en la cadena completa, no en fallas aisladas.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clave: el riesgo es crítico. Se obtuvo root, el máximo nivel de control. 7 hallazgos, 2 de ellos críticos.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hallazgos de mayor severidad explicados en lenguaje de negocio. Dos críticos y dos altos fueron la columna vertebral del compromiso.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un servidor de archivos, perder confidencialidad e integridad es lo más grave: es exactamente lo que debía proteger.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matriz prioriza: arriba-derecha (alto impacto, alta probabilidad) es lo que hay que atacar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Acciones priorizadas por urgencia y en lenguaje ejecutivo. Las inmediatas cierran las vías que permitieron el compromiso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secuencia importa: primero contener lo crítico, luego corregir, y finalmente sostener la seguridad en el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la seguridad se construye por capas. Pensar en cadenas de ataque y remediar en orden de prioridad.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03A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0"/>
            <a:ext cx="2743200" cy="6858000"/>
          </a:xfrm>
          <a:prstGeom prst="rect">
            <a:avLst/>
          </a:prstGeom>
          <a:solidFill>
            <a:srgbClr val="111A33"/>
          </a:solidFill>
          <a:ln/>
        </p:spPr>
      </p:sp>
      <p:sp>
        <p:nvSpPr>
          <p:cNvPr id="4" name="Shape 2"/>
          <p:cNvSpPr/>
          <p:nvPr/>
        </p:nvSpPr>
        <p:spPr>
          <a:xfrm>
            <a:off x="9445752" y="1280160"/>
            <a:ext cx="2743200" cy="128016"/>
          </a:xfrm>
          <a:prstGeom prst="rect">
            <a:avLst/>
          </a:prstGeom>
          <a:solidFill>
            <a:srgbClr val="1EA7A0"/>
          </a:solidFill>
          <a:ln/>
        </p:spPr>
      </p:sp>
      <p:sp>
        <p:nvSpPr>
          <p:cNvPr id="5" name="Shape 3"/>
          <p:cNvSpPr/>
          <p:nvPr/>
        </p:nvSpPr>
        <p:spPr>
          <a:xfrm>
            <a:off x="9445752" y="2194560"/>
            <a:ext cx="2743200" cy="128016"/>
          </a:xfrm>
          <a:prstGeom prst="rect">
            <a:avLst/>
          </a:prstGeom>
          <a:solidFill>
            <a:srgbClr val="3B2E5A"/>
          </a:solidFill>
          <a:ln/>
        </p:spPr>
      </p:sp>
      <p:sp>
        <p:nvSpPr>
          <p:cNvPr id="6" name="Shape 4"/>
          <p:cNvSpPr/>
          <p:nvPr/>
        </p:nvSpPr>
        <p:spPr>
          <a:xfrm>
            <a:off x="9445752" y="3108960"/>
            <a:ext cx="2743200" cy="128016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7" name="Shape 5"/>
          <p:cNvSpPr/>
          <p:nvPr/>
        </p:nvSpPr>
        <p:spPr>
          <a:xfrm>
            <a:off x="9445752" y="4023360"/>
            <a:ext cx="2743200" cy="128016"/>
          </a:xfrm>
          <a:prstGeom prst="rect">
            <a:avLst/>
          </a:prstGeom>
          <a:solidFill>
            <a:srgbClr val="E447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E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· INFORME EJECUTIVO DE SEGURIDAD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File Server: 1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80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4C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de la prueba de penetración sobre un servidor de archivos y su impacto en el negocio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5C9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3931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académico · entorno aislado y autorizado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4754880" cy="0"/>
          </a:xfrm>
          <a:prstGeom prst="line">
            <a:avLst/>
          </a:prstGeom>
          <a:noFill/>
          <a:ln w="25400">
            <a:solidFill>
              <a:srgbClr val="1EA7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Francisco Ortega Jiménez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15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 184918 · Ing. en Tecnologías de la Información · UPSLP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Docente: Mtro. Servando López Contreras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del engagement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evaluó la seguridad de un servidor de archivos corporativo simulado. El objetivo del ejercicio fue responder una pregunta de negocio: ¿qué tan expuesta estaría la información si un atacante alcanzara la red donde vive este servidor?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 concentra tres servicios de compartición de archivos, lo que lo convierte en un activo crítico: si cae, cae la información que custodia.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78308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82512" y="2057400"/>
            <a:ext cx="457200" cy="457200"/>
          </a:xfrm>
          <a:prstGeom prst="ellipse">
            <a:avLst/>
          </a:prstGeom>
          <a:solidFill>
            <a:srgbClr val="1EA7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82512" y="265176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 evaluado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382512" y="297180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de archivos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(FTP · SMB · NFS)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052560" y="178308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308592" y="2057400"/>
            <a:ext cx="457200" cy="457200"/>
          </a:xfrm>
          <a:prstGeom prst="ellipse">
            <a:avLst/>
          </a:prstGeom>
          <a:solidFill>
            <a:srgbClr val="3B2E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308592" y="265176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prueba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308592" y="297180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 negra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información previa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26480" y="41605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82512" y="4434840"/>
            <a:ext cx="457200" cy="45720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82512" y="502920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534924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ataque real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52560" y="41605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08592" y="4434840"/>
            <a:ext cx="457200" cy="457200"/>
          </a:xfrm>
          <a:prstGeom prst="ellipse">
            <a:avLst/>
          </a:prstGeom>
          <a:solidFill>
            <a:srgbClr val="E4477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08592" y="502920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308592" y="534924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 total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de administrador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Francisco Ortega Jiménez · 184918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Ciberseguridad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METODOLOGÍA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aplicada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proceso estructurado en cinco fases (PTES · OWASP · MITRE ATT&amp;CK) que reproduce cómo opera un atacante real.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77440"/>
            <a:ext cx="2084832" cy="822960"/>
          </a:xfrm>
          <a:prstGeom prst="rect">
            <a:avLst/>
          </a:prstGeom>
          <a:solidFill>
            <a:srgbClr val="1EA7A0"/>
          </a:solidFill>
          <a:ln/>
        </p:spPr>
      </p:sp>
      <p:sp>
        <p:nvSpPr>
          <p:cNvPr id="7" name="Shape 5"/>
          <p:cNvSpPr/>
          <p:nvPr/>
        </p:nvSpPr>
        <p:spPr>
          <a:xfrm>
            <a:off x="1179576" y="2542032"/>
            <a:ext cx="82296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9576" y="254203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3375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Reconocimiento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84048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Localizar el servidor y mapear su superficie de ataque.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07208" y="23774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07208" y="2377440"/>
            <a:ext cx="2084832" cy="822960"/>
          </a:xfrm>
          <a:prstGeom prst="rect">
            <a:avLst/>
          </a:prstGeom>
          <a:solidFill>
            <a:srgbClr val="3B2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3438144" y="2542032"/>
            <a:ext cx="82296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38144" y="254203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916936" y="33375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Enumeración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2953512" y="384048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Descubrir servicios, usuarios y configuraciones.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65776" y="23774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65776" y="2377440"/>
            <a:ext cx="2084832" cy="82296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19" name="Shape 17"/>
          <p:cNvSpPr/>
          <p:nvPr/>
        </p:nvSpPr>
        <p:spPr>
          <a:xfrm>
            <a:off x="5696712" y="2542032"/>
            <a:ext cx="82296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96712" y="254203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175504" y="33375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Explotación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384048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Conseguir el primer acceso al sistema.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24344" y="23774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24344" y="2377440"/>
            <a:ext cx="2084832" cy="822960"/>
          </a:xfrm>
          <a:prstGeom prst="rect">
            <a:avLst/>
          </a:prstGeom>
          <a:solidFill>
            <a:srgbClr val="E4477A"/>
          </a:solidFill>
          <a:ln/>
        </p:spPr>
      </p:sp>
      <p:sp>
        <p:nvSpPr>
          <p:cNvPr id="25" name="Shape 23"/>
          <p:cNvSpPr/>
          <p:nvPr/>
        </p:nvSpPr>
        <p:spPr>
          <a:xfrm>
            <a:off x="7955280" y="2542032"/>
            <a:ext cx="82296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55280" y="254203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4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7434072" y="33375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Escalada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470648" y="384048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Elevar privilegios hasta administrador.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582912" y="23774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582912" y="2377440"/>
            <a:ext cx="2084832" cy="822960"/>
          </a:xfrm>
          <a:prstGeom prst="rect">
            <a:avLst/>
          </a:prstGeom>
          <a:solidFill>
            <a:srgbClr val="45506B"/>
          </a:solidFill>
          <a:ln/>
        </p:spPr>
      </p:sp>
      <p:sp>
        <p:nvSpPr>
          <p:cNvPr id="31" name="Shape 29"/>
          <p:cNvSpPr/>
          <p:nvPr/>
        </p:nvSpPr>
        <p:spPr>
          <a:xfrm>
            <a:off x="10213848" y="2542032"/>
            <a:ext cx="82296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213848" y="254203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9692640" y="33375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9729216" y="384048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Demostrar el impacto y restaurar el entorno.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Francisco Ortega Jiménez · 184918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Ciberseguridad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NIVEL GENERAL DEL RIESGO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global del activo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206240" cy="3383280"/>
          </a:xfrm>
          <a:prstGeom prst="roundRect">
            <a:avLst>
              <a:gd name="adj" fmla="val 2703"/>
            </a:avLst>
          </a:prstGeom>
          <a:solidFill>
            <a:srgbClr val="1C2744"/>
          </a:solidFill>
          <a:ln w="25400">
            <a:solidFill>
              <a:srgbClr val="E447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7432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44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8404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4C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 permite un compromiso total por parte de un atacante con acceso a la 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94960" y="2011680"/>
            <a:ext cx="6217920" cy="1005840"/>
          </a:xfrm>
          <a:prstGeom prst="roundRect">
            <a:avLst>
              <a:gd name="adj" fmla="val 7273"/>
            </a:avLst>
          </a:prstGeom>
          <a:solidFill>
            <a:srgbClr val="1C2744"/>
          </a:solidFill>
          <a:ln/>
        </p:spPr>
      </p:sp>
      <p:sp>
        <p:nvSpPr>
          <p:cNvPr id="8" name="Shape 6"/>
          <p:cNvSpPr/>
          <p:nvPr/>
        </p:nvSpPr>
        <p:spPr>
          <a:xfrm>
            <a:off x="5394960" y="2194560"/>
            <a:ext cx="73152" cy="640080"/>
          </a:xfrm>
          <a:prstGeom prst="rect">
            <a:avLst/>
          </a:prstGeom>
          <a:solidFill>
            <a:srgbClr val="E447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15000" y="2011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44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logrado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5420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administrativo total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3200400"/>
            <a:ext cx="6217920" cy="1005840"/>
          </a:xfrm>
          <a:prstGeom prst="roundRect">
            <a:avLst>
              <a:gd name="adj" fmla="val 7273"/>
            </a:avLst>
          </a:prstGeom>
          <a:solidFill>
            <a:srgbClr val="1C27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394960" y="3383280"/>
            <a:ext cx="73152" cy="64008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15000" y="3200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79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37307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BAJO a CRÍTICO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94960" y="4389120"/>
            <a:ext cx="6217920" cy="1005840"/>
          </a:xfrm>
          <a:prstGeom prst="roundRect">
            <a:avLst>
              <a:gd name="adj" fmla="val 7273"/>
            </a:avLst>
          </a:prstGeom>
          <a:solidFill>
            <a:srgbClr val="1C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4960" y="4572000"/>
            <a:ext cx="73152" cy="640080"/>
          </a:xfrm>
          <a:prstGeom prst="rect">
            <a:avLst/>
          </a:prstGeom>
          <a:solidFill>
            <a:srgbClr val="F5C9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15000" y="43891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C9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4572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 máxima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49194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vulnerabilidades críticas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Francisco Ortega Jiménez · 184918</a:t>
            </a:r>
            <a:pPr algn="l" indent="0" marL="0">
              <a:buNone/>
            </a:pPr>
            <a:r>
              <a:rPr lang="en-US" sz="900" dirty="0">
                <a:solidFill>
                  <a:srgbClr val="7E8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algn="l" indent="0" marL="0">
              <a:buNone/>
            </a:pPr>
            <a:r>
              <a:rPr lang="en-US" sz="900" dirty="0">
                <a:solidFill>
                  <a:srgbClr val="7E8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Ciberseguridad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HALLAZGOS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 críticos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842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obsoleto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26280" y="2020824"/>
            <a:ext cx="1143000" cy="365760"/>
          </a:xfrm>
          <a:prstGeom prst="roundRect">
            <a:avLst>
              <a:gd name="adj" fmla="val 12500"/>
            </a:avLst>
          </a:prstGeom>
          <a:solidFill>
            <a:srgbClr val="E447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6280" y="202082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del sistema sin actualizar desde 2015: permite a un usuario común convertirse en administrador (Dirty COW).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19842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 débiles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195560" y="2020824"/>
            <a:ext cx="1143000" cy="365760"/>
          </a:xfrm>
          <a:prstGeom prst="roundRect">
            <a:avLst>
              <a:gd name="adj" fmla="val 12500"/>
            </a:avLst>
          </a:prstGeom>
          <a:solidFill>
            <a:srgbClr val="E447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195560" y="202082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14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Contraseñas triviales y reutilizadas que abrieron la puerta de entrada al sistema.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949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3995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expuestos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26280" y="4032504"/>
            <a:ext cx="1143000" cy="365760"/>
          </a:xfrm>
          <a:prstGeom prst="roundRect">
            <a:avLst>
              <a:gd name="adj" fmla="val 12500"/>
            </a:avLst>
          </a:prstGeom>
          <a:solidFill>
            <a:srgbClr val="F7941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26280" y="403250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26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directorio de bitácoras del servidor se compartía con la red, filtrando información sensible.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3949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92240" y="3995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FTP vulnerable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0195560" y="4032504"/>
            <a:ext cx="1143000" cy="365760"/>
          </a:xfrm>
          <a:prstGeom prst="roundRect">
            <a:avLst>
              <a:gd name="adj" fmla="val 12500"/>
            </a:avLst>
          </a:prstGeom>
          <a:solidFill>
            <a:srgbClr val="F7941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195560" y="403250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526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servicio FTP anticuado permitía leer y copiar archivos del sistema sin autenticación.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Francisco Ortega Jiménez · 184918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Ciberseguridad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IMPACTO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de impacto empresarial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compromiso a nivel administrador afecta las tres propiedades de la seguridad de la información: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05940" y="2606040"/>
            <a:ext cx="1097280" cy="1097280"/>
          </a:xfrm>
          <a:prstGeom prst="ellipse">
            <a:avLst/>
          </a:prstGeom>
          <a:solidFill>
            <a:srgbClr val="E447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805940" y="2606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404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Confidencialidad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714500" y="4224528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E447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14500" y="42245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6817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de lectura a todo: documentos, contraseñas y datos corporativos quedan expuestos.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98264" y="228600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55564" y="2606040"/>
            <a:ext cx="1097280" cy="1097280"/>
          </a:xfrm>
          <a:prstGeom prst="ellipse">
            <a:avLst/>
          </a:prstGeom>
          <a:solidFill>
            <a:srgbClr val="E447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55564" y="2606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4581144" y="38404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564124" y="4224528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E447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564124" y="42245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26864" y="46817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de alterar o falsificar archivos y de instalar puertas traseras sin ser detectado.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47888" y="228600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05188" y="2606040"/>
            <a:ext cx="1097280" cy="109728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05188" y="2606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200" dirty="0"/>
          </a:p>
        </p:txBody>
      </p:sp>
      <p:sp>
        <p:nvSpPr>
          <p:cNvPr id="22" name="Text 20"/>
          <p:cNvSpPr txBox="1"/>
          <p:nvPr/>
        </p:nvSpPr>
        <p:spPr>
          <a:xfrm>
            <a:off x="8430768" y="38404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413748" y="4224528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F7941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3748" y="42245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76488" y="46817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Posibilidad de detener servicios, borrar información o desplegar ransomware.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Francisco Ortega Jiménez · 184918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Ciberseguridad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MATRIZ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riesgo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0" y="5120640"/>
            <a:ext cx="1014984" cy="1014984"/>
          </a:xfrm>
          <a:prstGeom prst="rect">
            <a:avLst/>
          </a:prstGeom>
          <a:solidFill>
            <a:srgbClr val="1EA7A0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0360" y="5120640"/>
            <a:ext cx="1014984" cy="1014984"/>
          </a:xfrm>
          <a:prstGeom prst="rect">
            <a:avLst/>
          </a:prstGeom>
          <a:solidFill>
            <a:srgbClr val="1EA7A0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5120640"/>
            <a:ext cx="1014984" cy="1014984"/>
          </a:xfrm>
          <a:prstGeom prst="rect">
            <a:avLst/>
          </a:prstGeom>
          <a:solidFill>
            <a:srgbClr val="F5C93F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83480" y="5120640"/>
            <a:ext cx="1014984" cy="1014984"/>
          </a:xfrm>
          <a:prstGeom prst="rect">
            <a:avLst/>
          </a:prstGeom>
          <a:solidFill>
            <a:srgbClr val="F5C93F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4069080"/>
            <a:ext cx="1014984" cy="1014984"/>
          </a:xfrm>
          <a:prstGeom prst="rect">
            <a:avLst/>
          </a:prstGeom>
          <a:solidFill>
            <a:srgbClr val="1EA7A0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4069080"/>
            <a:ext cx="1014984" cy="1014984"/>
          </a:xfrm>
          <a:prstGeom prst="rect">
            <a:avLst/>
          </a:prstGeom>
          <a:solidFill>
            <a:srgbClr val="F5C93F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4069080"/>
            <a:ext cx="1014984" cy="1014984"/>
          </a:xfrm>
          <a:prstGeom prst="rect">
            <a:avLst/>
          </a:prstGeom>
          <a:solidFill>
            <a:srgbClr val="F5C93F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4069080"/>
            <a:ext cx="1014984" cy="1014984"/>
          </a:xfrm>
          <a:prstGeom prst="rect">
            <a:avLst/>
          </a:prstGeom>
          <a:solidFill>
            <a:srgbClr val="F7941D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3017520"/>
            <a:ext cx="1014984" cy="1014984"/>
          </a:xfrm>
          <a:prstGeom prst="rect">
            <a:avLst/>
          </a:prstGeom>
          <a:solidFill>
            <a:srgbClr val="F5C93F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3017520"/>
            <a:ext cx="1014984" cy="1014984"/>
          </a:xfrm>
          <a:prstGeom prst="rect">
            <a:avLst/>
          </a:prstGeom>
          <a:solidFill>
            <a:srgbClr val="F5C93F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3017520"/>
            <a:ext cx="1014984" cy="1014984"/>
          </a:xfrm>
          <a:prstGeom prst="rect">
            <a:avLst/>
          </a:prstGeom>
          <a:solidFill>
            <a:srgbClr val="F7941D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3017520"/>
            <a:ext cx="1014984" cy="1014984"/>
          </a:xfrm>
          <a:prstGeom prst="rect">
            <a:avLst/>
          </a:prstGeom>
          <a:solidFill>
            <a:srgbClr val="E4477A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1965960"/>
            <a:ext cx="1014984" cy="1014984"/>
          </a:xfrm>
          <a:prstGeom prst="rect">
            <a:avLst/>
          </a:prstGeom>
          <a:solidFill>
            <a:srgbClr val="F5C93F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80360" y="1965960"/>
            <a:ext cx="1014984" cy="1014984"/>
          </a:xfrm>
          <a:prstGeom prst="rect">
            <a:avLst/>
          </a:prstGeom>
          <a:solidFill>
            <a:srgbClr val="F7941D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1965960"/>
            <a:ext cx="1014984" cy="1014984"/>
          </a:xfrm>
          <a:prstGeom prst="rect">
            <a:avLst/>
          </a:prstGeom>
          <a:solidFill>
            <a:srgbClr val="E4477A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83480" y="1965960"/>
            <a:ext cx="1014984" cy="1014984"/>
          </a:xfrm>
          <a:prstGeom prst="rect">
            <a:avLst/>
          </a:prstGeom>
          <a:solidFill>
            <a:srgbClr val="E4477A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 rot="16200000">
            <a:off x="640080" y="1965960"/>
            <a:ext cx="1097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→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62453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 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07508" y="2308860"/>
            <a:ext cx="603504" cy="365760"/>
          </a:xfrm>
          <a:prstGeom prst="roundRect">
            <a:avLst>
              <a:gd name="adj" fmla="val 15000"/>
            </a:avLst>
          </a:prstGeom>
          <a:solidFill>
            <a:srgbClr val="1420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07508" y="230886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H-01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55948" y="2308860"/>
            <a:ext cx="603504" cy="365760"/>
          </a:xfrm>
          <a:prstGeom prst="roundRect">
            <a:avLst>
              <a:gd name="adj" fmla="val 15000"/>
            </a:avLst>
          </a:prstGeom>
          <a:solidFill>
            <a:srgbClr val="1420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55948" y="230886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H-02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55948" y="3360420"/>
            <a:ext cx="603504" cy="365760"/>
          </a:xfrm>
          <a:prstGeom prst="roundRect">
            <a:avLst>
              <a:gd name="adj" fmla="val 15000"/>
            </a:avLst>
          </a:prstGeom>
          <a:solidFill>
            <a:srgbClr val="1420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55948" y="336042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H-03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207508" y="3360420"/>
            <a:ext cx="603504" cy="365760"/>
          </a:xfrm>
          <a:prstGeom prst="roundRect">
            <a:avLst>
              <a:gd name="adj" fmla="val 15000"/>
            </a:avLst>
          </a:prstGeom>
          <a:solidFill>
            <a:srgbClr val="1420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07508" y="336042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H-04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04388" y="3360420"/>
            <a:ext cx="603504" cy="365760"/>
          </a:xfrm>
          <a:prstGeom prst="roundRect">
            <a:avLst>
              <a:gd name="adj" fmla="val 15000"/>
            </a:avLst>
          </a:prstGeom>
          <a:solidFill>
            <a:srgbClr val="1420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104388" y="336042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H-05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55948" y="4411980"/>
            <a:ext cx="603504" cy="365760"/>
          </a:xfrm>
          <a:prstGeom prst="roundRect">
            <a:avLst>
              <a:gd name="adj" fmla="val 15000"/>
            </a:avLst>
          </a:prstGeom>
          <a:solidFill>
            <a:srgbClr val="1420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55948" y="441198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H-06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104388" y="5463540"/>
            <a:ext cx="603504" cy="365760"/>
          </a:xfrm>
          <a:prstGeom prst="roundRect">
            <a:avLst>
              <a:gd name="adj" fmla="val 15000"/>
            </a:avLst>
          </a:prstGeom>
          <a:solidFill>
            <a:srgbClr val="1420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104388" y="546354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H-07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13232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de riesgo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132320" y="25146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4477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63524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132320" y="30632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7941D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63524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132320" y="36118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5C93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63524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132320" y="41605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EA7A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63524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7132320" y="484632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Siete hallazgos ubicados según su probabilidad de explotación y su impacto. Los dos críticos (H-01, H-02) concentran la urgencia de remediación.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Francisco Ortega Jiménez · 184918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Ciberseguridad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RECOMENDACIONES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estratégicas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74904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611880" cy="868680"/>
          </a:xfrm>
          <a:prstGeom prst="roundRect">
            <a:avLst>
              <a:gd name="adj" fmla="val 9474"/>
            </a:avLst>
          </a:prstGeom>
          <a:solidFill>
            <a:srgbClr val="E4477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31720"/>
            <a:ext cx="3611880" cy="365760"/>
          </a:xfrm>
          <a:prstGeom prst="rect">
            <a:avLst/>
          </a:prstGeom>
          <a:solidFill>
            <a:srgbClr val="E447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5681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Inmediata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48 h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926080"/>
            <a:ext cx="3026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el sistema operativo (kernel).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Rotar todas las contraseñas.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Dejar de compartir los registros del sistema.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8264" y="1828800"/>
            <a:ext cx="3611880" cy="374904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8264" y="1828800"/>
            <a:ext cx="3611880" cy="868680"/>
          </a:xfrm>
          <a:prstGeom prst="roundRect">
            <a:avLst>
              <a:gd name="adj" fmla="val 9474"/>
            </a:avLst>
          </a:prstGeom>
          <a:solidFill>
            <a:srgbClr val="F7941D"/>
          </a:solidFill>
          <a:ln/>
        </p:spPr>
      </p:sp>
      <p:sp>
        <p:nvSpPr>
          <p:cNvPr id="12" name="Shape 10"/>
          <p:cNvSpPr/>
          <p:nvPr/>
        </p:nvSpPr>
        <p:spPr>
          <a:xfrm>
            <a:off x="4398264" y="2331720"/>
            <a:ext cx="3611880" cy="36576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72584" y="195681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Alta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72584" y="2331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2 semanas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2926080"/>
            <a:ext cx="3026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y limitar los servicios FTP.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Restringir los recursos NFS a equipos autorizados.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Deshabilitar accesos anónimos.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47888" y="1828800"/>
            <a:ext cx="3611880" cy="374904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47888" y="1828800"/>
            <a:ext cx="3611880" cy="868680"/>
          </a:xfrm>
          <a:prstGeom prst="roundRect">
            <a:avLst>
              <a:gd name="adj" fmla="val 9474"/>
            </a:avLst>
          </a:prstGeom>
          <a:solidFill>
            <a:srgbClr val="1EA7A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47888" y="2331720"/>
            <a:ext cx="3611880" cy="365760"/>
          </a:xfrm>
          <a:prstGeom prst="rect">
            <a:avLst/>
          </a:prstGeom>
          <a:solidFill>
            <a:srgbClr val="1EA7A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22208" y="195681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Sostenida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522208" y="2331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3 meses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540496" y="2926080"/>
            <a:ext cx="3026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Endurecer el acceso remoto (SSH).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el principio de mínimo privilegio.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Monitorear accesos y gestionar parches.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Francisco Ortega Jiménez · 184918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Ciberseguridad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remediación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“altamente vulnerable” a un estado defendible en tres etapas.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4069080"/>
            <a:ext cx="9235440" cy="0"/>
          </a:xfrm>
          <a:prstGeom prst="line">
            <a:avLst/>
          </a:prstGeom>
          <a:noFill/>
          <a:ln w="38100">
            <a:solidFill>
              <a:srgbClr val="D9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38528" y="3813048"/>
            <a:ext cx="512064" cy="512064"/>
          </a:xfrm>
          <a:prstGeom prst="ellipse">
            <a:avLst/>
          </a:prstGeom>
          <a:solidFill>
            <a:srgbClr val="E4477A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938528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200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157984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E447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1579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0–48 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5237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Contención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8529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las vías críticas: parches, credenciales y recursos expuestos.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596128" y="3813048"/>
            <a:ext cx="512064" cy="512064"/>
          </a:xfrm>
          <a:prstGeom prst="ellipse">
            <a:avLst/>
          </a:prstGeom>
          <a:solidFill>
            <a:srgbClr val="F7941D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596128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51960" y="4572000"/>
            <a:ext cx="3200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51960" y="4718304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F7941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251960" y="47183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sem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50840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Corrección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541324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y endurecer los servicios de red.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53728" y="3813048"/>
            <a:ext cx="512064" cy="512064"/>
          </a:xfrm>
          <a:prstGeom prst="ellipse">
            <a:avLst/>
          </a:prstGeom>
          <a:solidFill>
            <a:srgbClr val="1EA7A0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253728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909560" y="2011680"/>
            <a:ext cx="3200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09560" y="2157984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EA7A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909560" y="21579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meses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25237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Madurez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28529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continuo y gestión permanente de parches.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Francisco Ortega Jiménez · 184918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Ciberseguridad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0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E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 EJECUTIVA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riesgo no vino de una sola falla,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sino de la suma de varios descuidos.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4C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registro compartido de más, una contraseña reutilizada, un servicio obsoleto y un sistema sin parchear bastaron para pasar de un simple acceso de red al control total del servidor. La buena noticia: cada eslabón es corregible, y el plan propuesto eleva de forma inmediata el nivel de seguridad del activo.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212080"/>
            <a:ext cx="146304" cy="146304"/>
          </a:xfrm>
          <a:prstGeom prst="ellipse">
            <a:avLst/>
          </a:prstGeom>
          <a:solidFill>
            <a:srgbClr val="1EA7A0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5212080"/>
            <a:ext cx="146304" cy="146304"/>
          </a:xfrm>
          <a:prstGeom prst="ellipse">
            <a:avLst/>
          </a:prstGeom>
          <a:solidFill>
            <a:srgbClr val="3B2E5A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212080"/>
            <a:ext cx="146304" cy="146304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9" name="Shape 7"/>
          <p:cNvSpPr/>
          <p:nvPr/>
        </p:nvSpPr>
        <p:spPr>
          <a:xfrm>
            <a:off x="1316736" y="5212080"/>
            <a:ext cx="146304" cy="146304"/>
          </a:xfrm>
          <a:prstGeom prst="ellipse">
            <a:avLst/>
          </a:prstGeom>
          <a:solidFill>
            <a:srgbClr val="E4477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5577840"/>
            <a:ext cx="4754880" cy="0"/>
          </a:xfrm>
          <a:prstGeom prst="line">
            <a:avLst/>
          </a:prstGeom>
          <a:noFill/>
          <a:ln w="19050">
            <a:solidFill>
              <a:srgbClr val="2B3A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5715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Francisco Ortega Jiménez · Matrícula 184918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B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Ciberseguridad · UPSLP · Docente: Mtro. Servando López Contreras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UPSLP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Resumen ejecutivo — My File Server 1</dc:title>
  <dc:subject>PptxGenJS Presentation</dc:subject>
  <dc:creator>Juan Francisco Ortega Jiménez</dc:creator>
  <cp:lastModifiedBy>Juan Francisco Ortega Jiménez</cp:lastModifiedBy>
  <cp:revision>1</cp:revision>
  <dcterms:created xsi:type="dcterms:W3CDTF">2026-10-01T08:20:48Z</dcterms:created>
  <dcterms:modified xsi:type="dcterms:W3CDTF">2026-10-01T08:20:48Z</dcterms:modified>
</cp:coreProperties>
</file>